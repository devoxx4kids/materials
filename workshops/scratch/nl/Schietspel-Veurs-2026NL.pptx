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7559675" cy="1069181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68">
          <p15:clr>
            <a:srgbClr val="747775"/>
          </p15:clr>
        </p15:guide>
        <p15:guide id="2" pos="238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3" d="100"/>
          <a:sy n="73" d="100"/>
        </p:scale>
        <p:origin x="2412" y="84"/>
      </p:cViewPr>
      <p:guideLst>
        <p:guide orient="horz" pos="3368"/>
        <p:guide pos="23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c433090f57_0_0: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c433090f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b98053cdf1_0_1: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b98053cdf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b98053cdf1_1_0: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b98053cdf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b98053cdf1_0_12: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b98053cdf1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c2548ac138_2_29: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c2548ac138_2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bb775a6caf_0_0: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bb775a6ca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b98053cdf1_1_13: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b98053cdf1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bf823ae7c3_0_10: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bf823ae7c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bf823ae7c3_1_12: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bf823ae7c3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c209bf755d_1_0: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c209bf755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c2548ac138_2_1: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c2548ac138_2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3c2548ac138_2_15: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3c2548ac138_2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3c2548ac138_1_8: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3c2548ac138_1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c2548ac138_3_8: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c2548ac138_3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c2548ac138_1_23:notes"/>
          <p:cNvSpPr>
            <a:spLocks noGrp="1" noRot="1" noChangeAspect="1"/>
          </p:cNvSpPr>
          <p:nvPr>
            <p:ph type="sldImg" idx="2"/>
          </p:nvPr>
        </p:nvSpPr>
        <p:spPr>
          <a:xfrm>
            <a:off x="2217050" y="685800"/>
            <a:ext cx="24246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c2548ac138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57712" y="1547778"/>
            <a:ext cx="7044600" cy="42669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257705" y="5891409"/>
            <a:ext cx="7044600" cy="1647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257705" y="4471058"/>
            <a:ext cx="7044600" cy="1749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257705" y="925091"/>
            <a:ext cx="7044600" cy="1190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257705" y="2395696"/>
            <a:ext cx="7044600" cy="7101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257705" y="925091"/>
            <a:ext cx="7044600" cy="1190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257705" y="2395696"/>
            <a:ext cx="3306900" cy="7101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3995291" y="2395696"/>
            <a:ext cx="3306900" cy="71019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257705" y="925091"/>
            <a:ext cx="7044600" cy="11904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57705" y="1154948"/>
            <a:ext cx="2321700" cy="15708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257705" y="2888617"/>
            <a:ext cx="2321700" cy="66090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05325" y="935745"/>
            <a:ext cx="5264700" cy="8503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3780000" y="-260"/>
            <a:ext cx="3780000" cy="10692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19508" y="2563450"/>
            <a:ext cx="3344400" cy="3081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19508" y="5826865"/>
            <a:ext cx="3344400" cy="25674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083839" y="1505164"/>
            <a:ext cx="3172200" cy="76812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257705" y="8794266"/>
            <a:ext cx="4959600" cy="12579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257705" y="2299346"/>
            <a:ext cx="7044600" cy="4081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257705" y="6552657"/>
            <a:ext cx="7044600" cy="27039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nl"/>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57705" y="2395696"/>
            <a:ext cx="7044600" cy="71019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nl"/>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scratch.mit.edu/projects/1271564333/editor/"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22.jp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37.png"/><Relationship Id="rId5" Type="http://schemas.openxmlformats.org/officeDocument/2006/relationships/image" Target="../media/image31.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843375" y="4022515"/>
            <a:ext cx="4688100" cy="968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nl" sz="2400" b="1">
                <a:solidFill>
                  <a:srgbClr val="FF9900"/>
                </a:solidFill>
              </a:rPr>
              <a:t>Wat is deze module?</a:t>
            </a:r>
            <a:endParaRPr sz="2400" b="1">
              <a:solidFill>
                <a:srgbClr val="FF9900"/>
              </a:solidFill>
            </a:endParaRPr>
          </a:p>
          <a:p>
            <a:pPr marL="0" lvl="0" indent="0" algn="l" rtl="0">
              <a:spcBef>
                <a:spcPts val="0"/>
              </a:spcBef>
              <a:spcAft>
                <a:spcPts val="0"/>
              </a:spcAft>
              <a:buNone/>
            </a:pPr>
            <a:r>
              <a:rPr lang="nl" sz="1200">
                <a:solidFill>
                  <a:schemeClr val="dk2"/>
                </a:solidFill>
              </a:rPr>
              <a:t>Deze module is om uit te leggen wat er gebeurt als je een spel maakt. Daardoor kunnen jullie beter begrijpen hoe spelletjes en computerprogramma’s werken. Wij hebben deze module gebaseerd op een simpel schiet spelletje dat jullie zelf programmeren. </a:t>
            </a:r>
            <a:endParaRPr sz="1200">
              <a:solidFill>
                <a:schemeClr val="dk2"/>
              </a:solidFill>
            </a:endParaRPr>
          </a:p>
          <a:p>
            <a:pPr marL="0" lvl="0" indent="0" algn="l" rtl="0">
              <a:spcBef>
                <a:spcPts val="0"/>
              </a:spcBef>
              <a:spcAft>
                <a:spcPts val="0"/>
              </a:spcAft>
              <a:buNone/>
            </a:pPr>
            <a:endParaRPr sz="1200">
              <a:solidFill>
                <a:schemeClr val="dk2"/>
              </a:solidFill>
            </a:endParaRPr>
          </a:p>
        </p:txBody>
      </p:sp>
      <p:pic>
        <p:nvPicPr>
          <p:cNvPr id="55" name="Google Shape;55;p13"/>
          <p:cNvPicPr preferRelativeResize="0"/>
          <p:nvPr/>
        </p:nvPicPr>
        <p:blipFill>
          <a:blip r:embed="rId3">
            <a:alphaModFix/>
          </a:blip>
          <a:stretch>
            <a:fillRect/>
          </a:stretch>
        </p:blipFill>
        <p:spPr>
          <a:xfrm>
            <a:off x="4572206" y="1652011"/>
            <a:ext cx="1974625" cy="1974625"/>
          </a:xfrm>
          <a:prstGeom prst="rect">
            <a:avLst/>
          </a:prstGeom>
          <a:noFill/>
          <a:ln>
            <a:noFill/>
          </a:ln>
        </p:spPr>
      </p:pic>
      <p:sp>
        <p:nvSpPr>
          <p:cNvPr id="56" name="Google Shape;56;p13"/>
          <p:cNvSpPr txBox="1"/>
          <p:nvPr/>
        </p:nvSpPr>
        <p:spPr>
          <a:xfrm>
            <a:off x="826508" y="5188174"/>
            <a:ext cx="5551500" cy="203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a:solidFill>
                <a:schemeClr val="dk2"/>
              </a:solidFill>
            </a:endParaRPr>
          </a:p>
          <a:p>
            <a:pPr marL="0" lvl="0" indent="0" algn="l" rtl="0">
              <a:spcBef>
                <a:spcPts val="0"/>
              </a:spcBef>
              <a:spcAft>
                <a:spcPts val="0"/>
              </a:spcAft>
              <a:buClr>
                <a:schemeClr val="dk1"/>
              </a:buClr>
              <a:buSzPts val="1100"/>
              <a:buFont typeface="Arial"/>
              <a:buNone/>
            </a:pPr>
            <a:r>
              <a:rPr lang="nl" sz="2400" b="1">
                <a:solidFill>
                  <a:srgbClr val="FF9900"/>
                </a:solidFill>
              </a:rPr>
              <a:t>Hoe kom je in scratch?</a:t>
            </a:r>
            <a:endParaRPr sz="2400" b="1">
              <a:solidFill>
                <a:srgbClr val="FF9900"/>
              </a:solidFill>
            </a:endParaRPr>
          </a:p>
          <a:p>
            <a:pPr marL="0" lvl="0" indent="0" algn="l" rtl="0">
              <a:spcBef>
                <a:spcPts val="0"/>
              </a:spcBef>
              <a:spcAft>
                <a:spcPts val="0"/>
              </a:spcAft>
              <a:buClr>
                <a:schemeClr val="dk1"/>
              </a:buClr>
              <a:buSzPts val="1100"/>
              <a:buFont typeface="Arial"/>
              <a:buNone/>
            </a:pPr>
            <a:r>
              <a:rPr lang="nl" sz="1200">
                <a:solidFill>
                  <a:schemeClr val="dk2"/>
                </a:solidFill>
              </a:rPr>
              <a:t>Ga met deze link naar scratch:</a:t>
            </a:r>
            <a:endParaRPr sz="1200">
              <a:solidFill>
                <a:schemeClr val="dk2"/>
              </a:solidFill>
            </a:endParaRPr>
          </a:p>
          <a:p>
            <a:pPr marL="0" lvl="0" indent="0" algn="l" rtl="0">
              <a:spcBef>
                <a:spcPts val="0"/>
              </a:spcBef>
              <a:spcAft>
                <a:spcPts val="0"/>
              </a:spcAft>
              <a:buClr>
                <a:schemeClr val="dk1"/>
              </a:buClr>
              <a:buSzPts val="1100"/>
              <a:buFont typeface="Arial"/>
              <a:buNone/>
            </a:pPr>
            <a:r>
              <a:rPr lang="nl" sz="1200" u="sng">
                <a:solidFill>
                  <a:schemeClr val="hlink"/>
                </a:solidFill>
                <a:hlinkClick r:id="rId4"/>
              </a:rPr>
              <a:t>https://scratch.mit.edu/</a:t>
            </a:r>
            <a:endParaRPr sz="1200">
              <a:solidFill>
                <a:schemeClr val="dk2"/>
              </a:solidFill>
            </a:endParaRPr>
          </a:p>
          <a:p>
            <a:pPr marL="0" lvl="0" indent="0" algn="l" rtl="0">
              <a:spcBef>
                <a:spcPts val="0"/>
              </a:spcBef>
              <a:spcAft>
                <a:spcPts val="0"/>
              </a:spcAft>
              <a:buClr>
                <a:schemeClr val="dk1"/>
              </a:buClr>
              <a:buSzPts val="1100"/>
              <a:buFont typeface="Arial"/>
              <a:buNone/>
            </a:pPr>
            <a:r>
              <a:rPr lang="nl" sz="1200">
                <a:solidFill>
                  <a:schemeClr val="dk2"/>
                </a:solidFill>
              </a:rPr>
              <a:t>Je hoeft niet een account te maken in scratch. Dan klik je op de knop “Maak” Daarna klik je linksboven op “Bestand” → “Load from your computer”</a:t>
            </a:r>
            <a:endParaRPr sz="1200">
              <a:solidFill>
                <a:schemeClr val="dk2"/>
              </a:solidFill>
            </a:endParaRPr>
          </a:p>
        </p:txBody>
      </p:sp>
      <p:cxnSp>
        <p:nvCxnSpPr>
          <p:cNvPr id="57" name="Google Shape;57;p13"/>
          <p:cNvCxnSpPr/>
          <p:nvPr/>
        </p:nvCxnSpPr>
        <p:spPr>
          <a:xfrm>
            <a:off x="2305900" y="6641203"/>
            <a:ext cx="0" cy="231900"/>
          </a:xfrm>
          <a:prstGeom prst="straightConnector1">
            <a:avLst/>
          </a:prstGeom>
          <a:noFill/>
          <a:ln w="38100" cap="flat" cmpd="sng">
            <a:solidFill>
              <a:schemeClr val="dk2"/>
            </a:solidFill>
            <a:prstDash val="solid"/>
            <a:round/>
            <a:headEnd type="none" w="med" len="med"/>
            <a:tailEnd type="triangle" w="med" len="med"/>
          </a:ln>
        </p:spPr>
      </p:cxnSp>
      <p:sp>
        <p:nvSpPr>
          <p:cNvPr id="58" name="Google Shape;58;p13"/>
          <p:cNvSpPr txBox="1"/>
          <p:nvPr/>
        </p:nvSpPr>
        <p:spPr>
          <a:xfrm>
            <a:off x="972975" y="517225"/>
            <a:ext cx="66009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3600" b="1">
                <a:solidFill>
                  <a:srgbClr val="FF9900"/>
                </a:solidFill>
              </a:rPr>
              <a:t>Zó maak je een schietspel</a:t>
            </a:r>
            <a:endParaRPr sz="3600" b="1">
              <a:solidFill>
                <a:srgbClr val="FF9900"/>
              </a:solidFill>
            </a:endParaRPr>
          </a:p>
        </p:txBody>
      </p:sp>
      <p:pic>
        <p:nvPicPr>
          <p:cNvPr id="59" name="Google Shape;59;p13" title="Schermafbeelding 2026-01-30 113519.png"/>
          <p:cNvPicPr preferRelativeResize="0"/>
          <p:nvPr/>
        </p:nvPicPr>
        <p:blipFill>
          <a:blip r:embed="rId5">
            <a:alphaModFix/>
          </a:blip>
          <a:stretch>
            <a:fillRect/>
          </a:stretch>
        </p:blipFill>
        <p:spPr>
          <a:xfrm>
            <a:off x="1143285" y="1624273"/>
            <a:ext cx="2753595" cy="2030100"/>
          </a:xfrm>
          <a:prstGeom prst="rect">
            <a:avLst/>
          </a:prstGeom>
          <a:noFill/>
          <a:ln>
            <a:noFill/>
          </a:ln>
        </p:spPr>
      </p:pic>
      <p:sp>
        <p:nvSpPr>
          <p:cNvPr id="60" name="Google Shape;60;p13"/>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1</a:t>
            </a:fld>
            <a:endParaRPr/>
          </a:p>
        </p:txBody>
      </p:sp>
      <p:pic>
        <p:nvPicPr>
          <p:cNvPr id="61" name="Google Shape;61;p13" title="Screenshot 2026-02-05 11.23.01.png"/>
          <p:cNvPicPr preferRelativeResize="0"/>
          <p:nvPr/>
        </p:nvPicPr>
        <p:blipFill>
          <a:blip r:embed="rId6">
            <a:alphaModFix/>
          </a:blip>
          <a:stretch>
            <a:fillRect/>
          </a:stretch>
        </p:blipFill>
        <p:spPr>
          <a:xfrm>
            <a:off x="745419" y="7066574"/>
            <a:ext cx="5443524" cy="28234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4"/>
          <p:cNvSpPr txBox="1">
            <a:spLocks noGrp="1"/>
          </p:cNvSpPr>
          <p:nvPr>
            <p:ph type="ctrTitle"/>
          </p:nvPr>
        </p:nvSpPr>
        <p:spPr>
          <a:xfrm>
            <a:off x="0" y="408751"/>
            <a:ext cx="7044600" cy="8181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nl" sz="3600" b="1">
                <a:solidFill>
                  <a:srgbClr val="FF9900"/>
                </a:solidFill>
              </a:rPr>
              <a:t>Zo gebruik je scratch</a:t>
            </a:r>
            <a:endParaRPr sz="3600" b="1">
              <a:solidFill>
                <a:srgbClr val="FF9900"/>
              </a:solidFill>
            </a:endParaRPr>
          </a:p>
        </p:txBody>
      </p:sp>
      <p:sp>
        <p:nvSpPr>
          <p:cNvPr id="67" name="Google Shape;67;p14"/>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2</a:t>
            </a:fld>
            <a:endParaRPr/>
          </a:p>
        </p:txBody>
      </p:sp>
      <p:pic>
        <p:nvPicPr>
          <p:cNvPr id="68" name="Google Shape;68;p14" title="Screenshot 2026-02-05 11.23.01.png"/>
          <p:cNvPicPr preferRelativeResize="0"/>
          <p:nvPr/>
        </p:nvPicPr>
        <p:blipFill>
          <a:blip r:embed="rId3">
            <a:alphaModFix/>
          </a:blip>
          <a:stretch>
            <a:fillRect/>
          </a:stretch>
        </p:blipFill>
        <p:spPr>
          <a:xfrm>
            <a:off x="283652" y="4400675"/>
            <a:ext cx="7021222" cy="3641775"/>
          </a:xfrm>
          <a:prstGeom prst="rect">
            <a:avLst/>
          </a:prstGeom>
          <a:noFill/>
          <a:ln>
            <a:noFill/>
          </a:ln>
        </p:spPr>
      </p:pic>
      <p:cxnSp>
        <p:nvCxnSpPr>
          <p:cNvPr id="69" name="Google Shape;69;p14"/>
          <p:cNvCxnSpPr/>
          <p:nvPr/>
        </p:nvCxnSpPr>
        <p:spPr>
          <a:xfrm rot="10800000">
            <a:off x="7050875" y="8280825"/>
            <a:ext cx="0" cy="822900"/>
          </a:xfrm>
          <a:prstGeom prst="straightConnector1">
            <a:avLst/>
          </a:prstGeom>
          <a:noFill/>
          <a:ln w="38100" cap="flat" cmpd="sng">
            <a:solidFill>
              <a:schemeClr val="dk2"/>
            </a:solidFill>
            <a:prstDash val="solid"/>
            <a:round/>
            <a:headEnd type="none" w="med" len="med"/>
            <a:tailEnd type="triangle" w="med" len="med"/>
          </a:ln>
        </p:spPr>
      </p:cxnSp>
      <p:cxnSp>
        <p:nvCxnSpPr>
          <p:cNvPr id="70" name="Google Shape;70;p14"/>
          <p:cNvCxnSpPr/>
          <p:nvPr/>
        </p:nvCxnSpPr>
        <p:spPr>
          <a:xfrm rot="10800000">
            <a:off x="4985473" y="8331616"/>
            <a:ext cx="0" cy="624000"/>
          </a:xfrm>
          <a:prstGeom prst="straightConnector1">
            <a:avLst/>
          </a:prstGeom>
          <a:noFill/>
          <a:ln w="38100" cap="flat" cmpd="sng">
            <a:solidFill>
              <a:schemeClr val="dk2"/>
            </a:solidFill>
            <a:prstDash val="solid"/>
            <a:round/>
            <a:headEnd type="none" w="med" len="med"/>
            <a:tailEnd type="triangle" w="med" len="med"/>
          </a:ln>
        </p:spPr>
      </p:cxnSp>
      <p:cxnSp>
        <p:nvCxnSpPr>
          <p:cNvPr id="71" name="Google Shape;71;p14"/>
          <p:cNvCxnSpPr/>
          <p:nvPr/>
        </p:nvCxnSpPr>
        <p:spPr>
          <a:xfrm>
            <a:off x="4779265" y="3520991"/>
            <a:ext cx="0" cy="630000"/>
          </a:xfrm>
          <a:prstGeom prst="straightConnector1">
            <a:avLst/>
          </a:prstGeom>
          <a:noFill/>
          <a:ln w="38100" cap="flat" cmpd="sng">
            <a:solidFill>
              <a:schemeClr val="dk2"/>
            </a:solidFill>
            <a:prstDash val="solid"/>
            <a:round/>
            <a:headEnd type="none" w="med" len="med"/>
            <a:tailEnd type="triangle" w="med" len="med"/>
          </a:ln>
        </p:spPr>
      </p:cxnSp>
      <p:cxnSp>
        <p:nvCxnSpPr>
          <p:cNvPr id="72" name="Google Shape;72;p14"/>
          <p:cNvCxnSpPr/>
          <p:nvPr/>
        </p:nvCxnSpPr>
        <p:spPr>
          <a:xfrm>
            <a:off x="642400" y="2888950"/>
            <a:ext cx="0" cy="1401600"/>
          </a:xfrm>
          <a:prstGeom prst="straightConnector1">
            <a:avLst/>
          </a:prstGeom>
          <a:noFill/>
          <a:ln w="38100" cap="flat" cmpd="sng">
            <a:solidFill>
              <a:schemeClr val="dk2"/>
            </a:solidFill>
            <a:prstDash val="solid"/>
            <a:round/>
            <a:headEnd type="none" w="med" len="med"/>
            <a:tailEnd type="triangle" w="med" len="med"/>
          </a:ln>
        </p:spPr>
      </p:cxnSp>
      <p:sp>
        <p:nvSpPr>
          <p:cNvPr id="73" name="Google Shape;73;p14"/>
          <p:cNvSpPr txBox="1"/>
          <p:nvPr/>
        </p:nvSpPr>
        <p:spPr>
          <a:xfrm>
            <a:off x="528525" y="1627604"/>
            <a:ext cx="25365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1800">
                <a:solidFill>
                  <a:schemeClr val="dk2"/>
                </a:solidFill>
              </a:rPr>
              <a:t>Hier links codeerblokken zien, daarmee kan je je spel mee coderen</a:t>
            </a:r>
            <a:endParaRPr sz="1800">
              <a:solidFill>
                <a:schemeClr val="dk2"/>
              </a:solidFill>
            </a:endParaRPr>
          </a:p>
        </p:txBody>
      </p:sp>
      <p:cxnSp>
        <p:nvCxnSpPr>
          <p:cNvPr id="74" name="Google Shape;74;p14"/>
          <p:cNvCxnSpPr/>
          <p:nvPr/>
        </p:nvCxnSpPr>
        <p:spPr>
          <a:xfrm>
            <a:off x="1216819" y="3660702"/>
            <a:ext cx="0" cy="630000"/>
          </a:xfrm>
          <a:prstGeom prst="straightConnector1">
            <a:avLst/>
          </a:prstGeom>
          <a:noFill/>
          <a:ln w="38100" cap="flat" cmpd="sng">
            <a:solidFill>
              <a:schemeClr val="dk2"/>
            </a:solidFill>
            <a:prstDash val="solid"/>
            <a:round/>
            <a:headEnd type="none" w="med" len="med"/>
            <a:tailEnd type="triangle" w="med" len="med"/>
          </a:ln>
        </p:spPr>
      </p:cxnSp>
      <p:sp>
        <p:nvSpPr>
          <p:cNvPr id="75" name="Google Shape;75;p14"/>
          <p:cNvSpPr txBox="1"/>
          <p:nvPr/>
        </p:nvSpPr>
        <p:spPr>
          <a:xfrm>
            <a:off x="944325" y="2992161"/>
            <a:ext cx="27159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1800">
                <a:solidFill>
                  <a:schemeClr val="dk2"/>
                </a:solidFill>
              </a:rPr>
              <a:t>Hier kan je de uiterlijk van je object veranderen</a:t>
            </a:r>
            <a:endParaRPr sz="1800">
              <a:solidFill>
                <a:schemeClr val="dk2"/>
              </a:solidFill>
            </a:endParaRPr>
          </a:p>
        </p:txBody>
      </p:sp>
      <p:sp>
        <p:nvSpPr>
          <p:cNvPr id="76" name="Google Shape;76;p14"/>
          <p:cNvSpPr txBox="1"/>
          <p:nvPr/>
        </p:nvSpPr>
        <p:spPr>
          <a:xfrm>
            <a:off x="4100200" y="2473950"/>
            <a:ext cx="33582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1800">
                <a:solidFill>
                  <a:schemeClr val="dk2"/>
                </a:solidFill>
              </a:rPr>
              <a:t>Met deze groene vlag kan je je  spel starten. En met het rode figuurtje kan je je spel stoppen</a:t>
            </a:r>
            <a:endParaRPr sz="1800">
              <a:solidFill>
                <a:schemeClr val="dk2"/>
              </a:solidFill>
            </a:endParaRPr>
          </a:p>
        </p:txBody>
      </p:sp>
      <p:sp>
        <p:nvSpPr>
          <p:cNvPr id="77" name="Google Shape;77;p14"/>
          <p:cNvSpPr txBox="1"/>
          <p:nvPr/>
        </p:nvSpPr>
        <p:spPr>
          <a:xfrm>
            <a:off x="5769974" y="9146134"/>
            <a:ext cx="17670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1800">
                <a:solidFill>
                  <a:schemeClr val="dk2"/>
                </a:solidFill>
              </a:rPr>
              <a:t>Hier kun je de achtergrond veranderen</a:t>
            </a:r>
            <a:endParaRPr sz="1800">
              <a:solidFill>
                <a:schemeClr val="dk2"/>
              </a:solidFill>
            </a:endParaRPr>
          </a:p>
        </p:txBody>
      </p:sp>
      <p:sp>
        <p:nvSpPr>
          <p:cNvPr id="78" name="Google Shape;78;p14"/>
          <p:cNvSpPr txBox="1"/>
          <p:nvPr/>
        </p:nvSpPr>
        <p:spPr>
          <a:xfrm>
            <a:off x="3389025" y="8599875"/>
            <a:ext cx="22785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1800">
                <a:solidFill>
                  <a:schemeClr val="dk2"/>
                </a:solidFill>
              </a:rPr>
              <a:t>Hier kun je je objecten selecteren</a:t>
            </a:r>
            <a:endParaRPr sz="1800">
              <a:solidFill>
                <a:schemeClr val="dk2"/>
              </a:solidFill>
            </a:endParaRPr>
          </a:p>
        </p:txBody>
      </p:sp>
      <p:cxnSp>
        <p:nvCxnSpPr>
          <p:cNvPr id="79" name="Google Shape;79;p14"/>
          <p:cNvCxnSpPr/>
          <p:nvPr/>
        </p:nvCxnSpPr>
        <p:spPr>
          <a:xfrm rot="10800000" flipH="1">
            <a:off x="1236100" y="6971375"/>
            <a:ext cx="1191000" cy="1734900"/>
          </a:xfrm>
          <a:prstGeom prst="straightConnector1">
            <a:avLst/>
          </a:prstGeom>
          <a:noFill/>
          <a:ln w="38100" cap="flat" cmpd="sng">
            <a:solidFill>
              <a:schemeClr val="dk2"/>
            </a:solidFill>
            <a:prstDash val="solid"/>
            <a:round/>
            <a:headEnd type="none" w="med" len="med"/>
            <a:tailEnd type="triangle" w="med" len="med"/>
          </a:ln>
        </p:spPr>
      </p:cxnSp>
      <p:sp>
        <p:nvSpPr>
          <p:cNvPr id="80" name="Google Shape;80;p14"/>
          <p:cNvSpPr txBox="1"/>
          <p:nvPr/>
        </p:nvSpPr>
        <p:spPr>
          <a:xfrm>
            <a:off x="279500" y="8782325"/>
            <a:ext cx="33582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1800">
                <a:solidFill>
                  <a:schemeClr val="dk2"/>
                </a:solidFill>
              </a:rPr>
              <a:t>In dit veld sleep je je codeerblokken naar toe. Om vervolgen ermee te kunnen coderen</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a:off x="257698" y="281125"/>
            <a:ext cx="2957700" cy="1190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l" sz="3600" b="1">
                <a:solidFill>
                  <a:srgbClr val="FF9900"/>
                </a:solidFill>
              </a:rPr>
              <a:t>De speler</a:t>
            </a:r>
            <a:endParaRPr sz="3600" b="1">
              <a:solidFill>
                <a:srgbClr val="FF9900"/>
              </a:solidFill>
            </a:endParaRPr>
          </a:p>
        </p:txBody>
      </p:sp>
      <p:sp>
        <p:nvSpPr>
          <p:cNvPr id="86" name="Google Shape;86;p15"/>
          <p:cNvSpPr txBox="1">
            <a:spLocks noGrp="1"/>
          </p:cNvSpPr>
          <p:nvPr>
            <p:ph type="body" idx="1"/>
          </p:nvPr>
        </p:nvSpPr>
        <p:spPr>
          <a:xfrm>
            <a:off x="257700" y="1363700"/>
            <a:ext cx="2957700" cy="71019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nl"/>
              <a:t>Ga naar de speler. En kies een kostuum.</a:t>
            </a: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nl"/>
              <a:t>Voeg daarna de code in dat hier rechts staat.</a:t>
            </a:r>
            <a:endParaRPr/>
          </a:p>
          <a:p>
            <a:pPr marL="0" lvl="0" indent="0" algn="l" rtl="0">
              <a:spcBef>
                <a:spcPts val="1200"/>
              </a:spcBef>
              <a:spcAft>
                <a:spcPts val="0"/>
              </a:spcAft>
              <a:buNone/>
            </a:pPr>
            <a:endParaRPr/>
          </a:p>
          <a:p>
            <a:pPr marL="0" lvl="0" indent="0" algn="l" rtl="0">
              <a:spcBef>
                <a:spcPts val="1200"/>
              </a:spcBef>
              <a:spcAft>
                <a:spcPts val="0"/>
              </a:spcAft>
              <a:buNone/>
            </a:pPr>
            <a:r>
              <a:rPr lang="nl"/>
              <a:t>Wat er nu gaat gebeuren is dat als je het spel start, gaat de speler naar de linkerkant. Daarna checked de speler altijd:</a:t>
            </a:r>
            <a:endParaRPr/>
          </a:p>
          <a:p>
            <a:pPr marL="457200" lvl="0" indent="-342900" algn="l" rtl="0">
              <a:spcBef>
                <a:spcPts val="1200"/>
              </a:spcBef>
              <a:spcAft>
                <a:spcPts val="0"/>
              </a:spcAft>
              <a:buSzPts val="1800"/>
              <a:buChar char="-"/>
            </a:pPr>
            <a:r>
              <a:rPr lang="nl"/>
              <a:t>Pijltje omhoog: Loop naar boven.</a:t>
            </a:r>
            <a:endParaRPr/>
          </a:p>
          <a:p>
            <a:pPr marL="457200" lvl="0" indent="-342900" algn="l" rtl="0">
              <a:spcBef>
                <a:spcPts val="0"/>
              </a:spcBef>
              <a:spcAft>
                <a:spcPts val="0"/>
              </a:spcAft>
              <a:buSzPts val="1800"/>
              <a:buChar char="-"/>
            </a:pPr>
            <a:r>
              <a:rPr lang="nl"/>
              <a:t>Pijltje omlaag: Loop naar onder.</a:t>
            </a:r>
            <a:endParaRPr/>
          </a:p>
        </p:txBody>
      </p:sp>
      <p:pic>
        <p:nvPicPr>
          <p:cNvPr id="87" name="Google Shape;87;p15"/>
          <p:cNvPicPr preferRelativeResize="0"/>
          <p:nvPr/>
        </p:nvPicPr>
        <p:blipFill>
          <a:blip r:embed="rId3">
            <a:alphaModFix/>
          </a:blip>
          <a:stretch>
            <a:fillRect/>
          </a:stretch>
        </p:blipFill>
        <p:spPr>
          <a:xfrm>
            <a:off x="257700" y="7422800"/>
            <a:ext cx="3279550" cy="3269200"/>
          </a:xfrm>
          <a:prstGeom prst="rect">
            <a:avLst/>
          </a:prstGeom>
          <a:noFill/>
          <a:ln>
            <a:noFill/>
          </a:ln>
        </p:spPr>
      </p:pic>
      <p:sp>
        <p:nvSpPr>
          <p:cNvPr id="88" name="Google Shape;88;p15"/>
          <p:cNvSpPr txBox="1">
            <a:spLocks noGrp="1"/>
          </p:cNvSpPr>
          <p:nvPr>
            <p:ph type="body" idx="1"/>
          </p:nvPr>
        </p:nvSpPr>
        <p:spPr>
          <a:xfrm>
            <a:off x="3641525" y="7671844"/>
            <a:ext cx="3382500" cy="3492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nl"/>
              <a:t>Dit is het assenstelsel. als je omhoog of omlaag gaat, loop je over de Y-as. Als je naar links of naar rechts gaat, loop je over de X-as. Met het blok “ga naar x: … y: …” kan je ergens naartoe teleporteren. En met een “verander x/y met …” kan je stappen zetten.</a:t>
            </a:r>
            <a:endParaRPr/>
          </a:p>
        </p:txBody>
      </p:sp>
      <p:sp>
        <p:nvSpPr>
          <p:cNvPr id="89" name="Google Shape;89;p15"/>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3</a:t>
            </a:fld>
            <a:endParaRPr/>
          </a:p>
        </p:txBody>
      </p:sp>
      <p:pic>
        <p:nvPicPr>
          <p:cNvPr id="90" name="Google Shape;90;p15" title="Schermafbeelding 2026-02-05 110506.png"/>
          <p:cNvPicPr preferRelativeResize="0"/>
          <p:nvPr/>
        </p:nvPicPr>
        <p:blipFill>
          <a:blip r:embed="rId4">
            <a:alphaModFix/>
          </a:blip>
          <a:stretch>
            <a:fillRect/>
          </a:stretch>
        </p:blipFill>
        <p:spPr>
          <a:xfrm>
            <a:off x="3416646" y="1524000"/>
            <a:ext cx="3981450" cy="476250"/>
          </a:xfrm>
          <a:prstGeom prst="rect">
            <a:avLst/>
          </a:prstGeom>
          <a:noFill/>
          <a:ln>
            <a:noFill/>
          </a:ln>
        </p:spPr>
      </p:pic>
      <p:pic>
        <p:nvPicPr>
          <p:cNvPr id="91" name="Google Shape;91;p15" title="Schermafbeelding 2026-02-05 111717.png"/>
          <p:cNvPicPr preferRelativeResize="0"/>
          <p:nvPr/>
        </p:nvPicPr>
        <p:blipFill>
          <a:blip r:embed="rId5">
            <a:alphaModFix/>
          </a:blip>
          <a:stretch>
            <a:fillRect/>
          </a:stretch>
        </p:blipFill>
        <p:spPr>
          <a:xfrm>
            <a:off x="3160300" y="2582297"/>
            <a:ext cx="4425190" cy="445538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txBox="1">
            <a:spLocks noGrp="1"/>
          </p:cNvSpPr>
          <p:nvPr>
            <p:ph type="title"/>
          </p:nvPr>
        </p:nvSpPr>
        <p:spPr>
          <a:xfrm>
            <a:off x="257705" y="349997"/>
            <a:ext cx="7044600" cy="1190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sz="3600" b="1">
                <a:solidFill>
                  <a:srgbClr val="FF9900"/>
                </a:solidFill>
              </a:rPr>
              <a:t>Schieten</a:t>
            </a:r>
            <a:endParaRPr sz="3600" b="1">
              <a:solidFill>
                <a:srgbClr val="FF9900"/>
              </a:solidFill>
            </a:endParaRPr>
          </a:p>
        </p:txBody>
      </p:sp>
      <p:sp>
        <p:nvSpPr>
          <p:cNvPr id="97" name="Google Shape;97;p16"/>
          <p:cNvSpPr txBox="1">
            <a:spLocks noGrp="1"/>
          </p:cNvSpPr>
          <p:nvPr>
            <p:ph type="body" idx="1"/>
          </p:nvPr>
        </p:nvSpPr>
        <p:spPr>
          <a:xfrm>
            <a:off x="165450" y="1520700"/>
            <a:ext cx="4387800" cy="7977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nl"/>
              <a:t>Ga naar de kogel. En kies een kostuum.</a:t>
            </a: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nl"/>
              <a:t>Voeg de code in zoals rechts gegeven staat.</a:t>
            </a:r>
            <a:endParaRPr/>
          </a:p>
          <a:p>
            <a:pPr marL="0" lvl="0" indent="0" algn="l" rtl="0">
              <a:spcBef>
                <a:spcPts val="1200"/>
              </a:spcBef>
              <a:spcAft>
                <a:spcPts val="0"/>
              </a:spcAft>
              <a:buNone/>
            </a:pPr>
            <a:endParaRPr/>
          </a:p>
          <a:p>
            <a:pPr marL="0" lvl="0" indent="0" algn="l" rtl="0">
              <a:spcBef>
                <a:spcPts val="1200"/>
              </a:spcBef>
              <a:spcAft>
                <a:spcPts val="0"/>
              </a:spcAft>
              <a:buNone/>
            </a:pPr>
            <a:r>
              <a:rPr lang="nl" sz="2400" b="1">
                <a:solidFill>
                  <a:schemeClr val="accent4"/>
                </a:solidFill>
              </a:rPr>
              <a:t>Wat doet de code?</a:t>
            </a:r>
            <a:endParaRPr sz="2400" b="1">
              <a:solidFill>
                <a:schemeClr val="accent4"/>
              </a:solidFill>
            </a:endParaRPr>
          </a:p>
          <a:p>
            <a:pPr marL="0" lvl="0" indent="0" algn="l" rtl="0">
              <a:spcBef>
                <a:spcPts val="1200"/>
              </a:spcBef>
              <a:spcAft>
                <a:spcPts val="0"/>
              </a:spcAft>
              <a:buNone/>
            </a:pPr>
            <a:r>
              <a:rPr lang="nl"/>
              <a:t>Het bovenste stukje code maakt een clone elke keer als je de spatiebalk indrukt.</a:t>
            </a:r>
            <a:endParaRPr/>
          </a:p>
          <a:p>
            <a:pPr marL="0" lvl="0" indent="0" algn="l" rtl="0">
              <a:spcBef>
                <a:spcPts val="1200"/>
              </a:spcBef>
              <a:spcAft>
                <a:spcPts val="0"/>
              </a:spcAft>
              <a:buNone/>
            </a:pPr>
            <a:r>
              <a:rPr lang="nl"/>
              <a:t>En de onderste stukje code zorgt ervoor dat de clone zichzelf naar rechts verplaatst. En als hij een rand raakt, verdwijnt hij.</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pic>
        <p:nvPicPr>
          <p:cNvPr id="98" name="Google Shape;98;p16"/>
          <p:cNvPicPr preferRelativeResize="0"/>
          <p:nvPr/>
        </p:nvPicPr>
        <p:blipFill>
          <a:blip r:embed="rId3">
            <a:alphaModFix/>
          </a:blip>
          <a:stretch>
            <a:fillRect/>
          </a:stretch>
        </p:blipFill>
        <p:spPr>
          <a:xfrm>
            <a:off x="3999275" y="6197275"/>
            <a:ext cx="3098800" cy="3995374"/>
          </a:xfrm>
          <a:prstGeom prst="rect">
            <a:avLst/>
          </a:prstGeom>
          <a:noFill/>
          <a:ln>
            <a:noFill/>
          </a:ln>
        </p:spPr>
      </p:pic>
      <p:pic>
        <p:nvPicPr>
          <p:cNvPr id="99" name="Google Shape;99;p16" title="Screenshot 2026-01-30 10.10.38.png"/>
          <p:cNvPicPr preferRelativeResize="0"/>
          <p:nvPr/>
        </p:nvPicPr>
        <p:blipFill>
          <a:blip r:embed="rId4">
            <a:alphaModFix/>
          </a:blip>
          <a:stretch>
            <a:fillRect/>
          </a:stretch>
        </p:blipFill>
        <p:spPr>
          <a:xfrm>
            <a:off x="3999271" y="2750152"/>
            <a:ext cx="3459128" cy="2797850"/>
          </a:xfrm>
          <a:prstGeom prst="rect">
            <a:avLst/>
          </a:prstGeom>
          <a:noFill/>
          <a:ln>
            <a:noFill/>
          </a:ln>
        </p:spPr>
      </p:pic>
      <p:pic>
        <p:nvPicPr>
          <p:cNvPr id="100" name="Google Shape;100;p16" title="Screenshot 2026-01-30 10.19.30.png"/>
          <p:cNvPicPr preferRelativeResize="0"/>
          <p:nvPr/>
        </p:nvPicPr>
        <p:blipFill>
          <a:blip r:embed="rId5">
            <a:alphaModFix/>
          </a:blip>
          <a:stretch>
            <a:fillRect/>
          </a:stretch>
        </p:blipFill>
        <p:spPr>
          <a:xfrm>
            <a:off x="257699" y="7684150"/>
            <a:ext cx="3098800" cy="2508507"/>
          </a:xfrm>
          <a:prstGeom prst="rect">
            <a:avLst/>
          </a:prstGeom>
          <a:noFill/>
          <a:ln>
            <a:noFill/>
          </a:ln>
        </p:spPr>
      </p:pic>
      <p:sp>
        <p:nvSpPr>
          <p:cNvPr id="101" name="Google Shape;101;p16"/>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4</a:t>
            </a:fld>
            <a:endParaRPr/>
          </a:p>
        </p:txBody>
      </p:sp>
      <p:pic>
        <p:nvPicPr>
          <p:cNvPr id="102" name="Google Shape;102;p16" title="Schermafbeelding 2026-02-05 110506.png"/>
          <p:cNvPicPr preferRelativeResize="0"/>
          <p:nvPr/>
        </p:nvPicPr>
        <p:blipFill>
          <a:blip r:embed="rId6">
            <a:alphaModFix/>
          </a:blip>
          <a:stretch>
            <a:fillRect/>
          </a:stretch>
        </p:blipFill>
        <p:spPr>
          <a:xfrm>
            <a:off x="3476959" y="2152162"/>
            <a:ext cx="3981450" cy="476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7"/>
          <p:cNvSpPr txBox="1">
            <a:spLocks noGrp="1"/>
          </p:cNvSpPr>
          <p:nvPr>
            <p:ph type="title"/>
          </p:nvPr>
        </p:nvSpPr>
        <p:spPr>
          <a:xfrm>
            <a:off x="257705" y="241800"/>
            <a:ext cx="7044600" cy="1190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sz="3600" b="1">
                <a:solidFill>
                  <a:srgbClr val="FF9900"/>
                </a:solidFill>
              </a:rPr>
              <a:t>Basis Vijand</a:t>
            </a:r>
            <a:endParaRPr sz="3600" b="1">
              <a:solidFill>
                <a:srgbClr val="FF9900"/>
              </a:solidFill>
            </a:endParaRPr>
          </a:p>
        </p:txBody>
      </p:sp>
      <p:sp>
        <p:nvSpPr>
          <p:cNvPr id="108" name="Google Shape;108;p17"/>
          <p:cNvSpPr txBox="1">
            <a:spLocks noGrp="1"/>
          </p:cNvSpPr>
          <p:nvPr>
            <p:ph type="body" idx="1"/>
          </p:nvPr>
        </p:nvSpPr>
        <p:spPr>
          <a:xfrm>
            <a:off x="257700" y="1099275"/>
            <a:ext cx="2828700" cy="24381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nl" sz="1400"/>
              <a:t>Ga naar de basis vijand en kies een kostuum.</a:t>
            </a:r>
            <a:endParaRPr sz="1400"/>
          </a:p>
          <a:p>
            <a:pPr marL="457200" lvl="0" indent="0" algn="l" rtl="0">
              <a:spcBef>
                <a:spcPts val="1200"/>
              </a:spcBef>
              <a:spcAft>
                <a:spcPts val="0"/>
              </a:spcAft>
              <a:buNone/>
            </a:pPr>
            <a:r>
              <a:rPr lang="nl" sz="1400"/>
              <a:t>             </a:t>
            </a:r>
            <a:r>
              <a:rPr lang="nl" sz="1400">
                <a:solidFill>
                  <a:schemeClr val="lt1"/>
                </a:solidFill>
              </a:rPr>
              <a:t>z</a:t>
            </a:r>
            <a:endParaRPr sz="1400">
              <a:solidFill>
                <a:schemeClr val="lt1"/>
              </a:solidFill>
            </a:endParaRPr>
          </a:p>
          <a:p>
            <a:pPr marL="457200" lvl="0" indent="-317500" algn="l" rtl="0">
              <a:spcBef>
                <a:spcPts val="1200"/>
              </a:spcBef>
              <a:spcAft>
                <a:spcPts val="0"/>
              </a:spcAft>
              <a:buSzPts val="1400"/>
              <a:buChar char="●"/>
            </a:pPr>
            <a:r>
              <a:rPr lang="nl" sz="1400"/>
              <a:t>Voeg de volgende code in, hier maakt de vijand elke 5 seconde een clone van zichzelf. Mag je veranderen zodat de vijanden op andere momenten verschijnen.</a:t>
            </a:r>
            <a:endParaRPr sz="1400"/>
          </a:p>
        </p:txBody>
      </p:sp>
      <p:pic>
        <p:nvPicPr>
          <p:cNvPr id="109" name="Google Shape;109;p17" title="Schermafbeelding 2026-01-21 113205.png"/>
          <p:cNvPicPr preferRelativeResize="0"/>
          <p:nvPr/>
        </p:nvPicPr>
        <p:blipFill>
          <a:blip r:embed="rId3">
            <a:alphaModFix/>
          </a:blip>
          <a:stretch>
            <a:fillRect/>
          </a:stretch>
        </p:blipFill>
        <p:spPr>
          <a:xfrm>
            <a:off x="3639250" y="488274"/>
            <a:ext cx="3268125" cy="3256575"/>
          </a:xfrm>
          <a:prstGeom prst="rect">
            <a:avLst/>
          </a:prstGeom>
          <a:noFill/>
          <a:ln>
            <a:noFill/>
          </a:ln>
        </p:spPr>
      </p:pic>
      <p:sp>
        <p:nvSpPr>
          <p:cNvPr id="110" name="Google Shape;110;p17"/>
          <p:cNvSpPr txBox="1">
            <a:spLocks noGrp="1"/>
          </p:cNvSpPr>
          <p:nvPr>
            <p:ph type="body" idx="1"/>
          </p:nvPr>
        </p:nvSpPr>
        <p:spPr>
          <a:xfrm>
            <a:off x="3780000" y="3897400"/>
            <a:ext cx="3667800" cy="36192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nl" sz="1600"/>
              <a:t>Voeg de code hier links ook toe.</a:t>
            </a:r>
            <a:endParaRPr sz="1600"/>
          </a:p>
          <a:p>
            <a:pPr marL="0" lvl="0" indent="0" algn="l" rtl="0">
              <a:spcBef>
                <a:spcPts val="1200"/>
              </a:spcBef>
              <a:spcAft>
                <a:spcPts val="0"/>
              </a:spcAft>
              <a:buNone/>
            </a:pPr>
            <a:r>
              <a:rPr lang="nl" sz="1600"/>
              <a:t>Wat daar gebeurt is dat als er een kloon is, verschijnt hij op een willekeurige positie rechts aan het scherm. Vervolgens loopt hij naar de hele tijd naar links en kijkt hij voor een van de volgende gebeurtenissen.</a:t>
            </a:r>
            <a:endParaRPr sz="1600"/>
          </a:p>
          <a:p>
            <a:pPr marL="457200" lvl="0" indent="-330200" algn="l" rtl="0">
              <a:spcBef>
                <a:spcPts val="1200"/>
              </a:spcBef>
              <a:spcAft>
                <a:spcPts val="0"/>
              </a:spcAft>
              <a:buSzPts val="1600"/>
              <a:buChar char="-"/>
            </a:pPr>
            <a:r>
              <a:rPr lang="nl" sz="1600"/>
              <a:t>Als hij de kogel aanraakt, gaat hij dood.</a:t>
            </a:r>
            <a:endParaRPr sz="1600"/>
          </a:p>
          <a:p>
            <a:pPr marL="457200" lvl="0" indent="-330200" algn="l" rtl="0">
              <a:spcBef>
                <a:spcPts val="0"/>
              </a:spcBef>
              <a:spcAft>
                <a:spcPts val="0"/>
              </a:spcAft>
              <a:buSzPts val="1600"/>
              <a:buChar char="-"/>
            </a:pPr>
            <a:r>
              <a:rPr lang="nl" sz="1600"/>
              <a:t>Als hij de speler aanraakt, stopt het spel</a:t>
            </a:r>
            <a:endParaRPr sz="1600"/>
          </a:p>
          <a:p>
            <a:pPr marL="457200" lvl="0" indent="-330200" algn="l" rtl="0">
              <a:spcBef>
                <a:spcPts val="0"/>
              </a:spcBef>
              <a:spcAft>
                <a:spcPts val="0"/>
              </a:spcAft>
              <a:buSzPts val="1600"/>
              <a:buChar char="-"/>
            </a:pPr>
            <a:r>
              <a:rPr lang="nl" sz="1600"/>
              <a:t>Als hij de rand aanraakt, gaat hij dood.</a:t>
            </a:r>
            <a:endParaRPr sz="1600"/>
          </a:p>
        </p:txBody>
      </p:sp>
      <p:pic>
        <p:nvPicPr>
          <p:cNvPr id="111" name="Google Shape;111;p17" title="Screenshot 2026-01-30 10.45.25.png"/>
          <p:cNvPicPr preferRelativeResize="0"/>
          <p:nvPr/>
        </p:nvPicPr>
        <p:blipFill>
          <a:blip r:embed="rId4">
            <a:alphaModFix/>
          </a:blip>
          <a:stretch>
            <a:fillRect/>
          </a:stretch>
        </p:blipFill>
        <p:spPr>
          <a:xfrm>
            <a:off x="4271547" y="8481601"/>
            <a:ext cx="2227550" cy="1783472"/>
          </a:xfrm>
          <a:prstGeom prst="rect">
            <a:avLst/>
          </a:prstGeom>
          <a:noFill/>
          <a:ln>
            <a:noFill/>
          </a:ln>
        </p:spPr>
      </p:pic>
      <p:sp>
        <p:nvSpPr>
          <p:cNvPr id="112" name="Google Shape;112;p17"/>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5</a:t>
            </a:fld>
            <a:endParaRPr/>
          </a:p>
        </p:txBody>
      </p:sp>
      <p:sp>
        <p:nvSpPr>
          <p:cNvPr id="113" name="Google Shape;113;p17"/>
          <p:cNvSpPr txBox="1"/>
          <p:nvPr/>
        </p:nvSpPr>
        <p:spPr>
          <a:xfrm>
            <a:off x="5162730" y="2245197"/>
            <a:ext cx="445200" cy="41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nl" sz="1200">
                <a:solidFill>
                  <a:schemeClr val="dk2"/>
                </a:solidFill>
                <a:highlight>
                  <a:schemeClr val="lt1"/>
                </a:highlight>
              </a:rPr>
              <a:t>5</a:t>
            </a:r>
            <a:endParaRPr sz="1200">
              <a:solidFill>
                <a:srgbClr val="595959"/>
              </a:solidFill>
              <a:highlight>
                <a:schemeClr val="lt1"/>
              </a:highlight>
            </a:endParaRPr>
          </a:p>
        </p:txBody>
      </p:sp>
      <p:pic>
        <p:nvPicPr>
          <p:cNvPr id="114" name="Google Shape;114;p17"/>
          <p:cNvPicPr preferRelativeResize="0"/>
          <p:nvPr/>
        </p:nvPicPr>
        <p:blipFill>
          <a:blip r:embed="rId5">
            <a:alphaModFix/>
          </a:blip>
          <a:stretch>
            <a:fillRect/>
          </a:stretch>
        </p:blipFill>
        <p:spPr>
          <a:xfrm>
            <a:off x="257700" y="3991800"/>
            <a:ext cx="3415001" cy="4628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8"/>
          <p:cNvSpPr txBox="1">
            <a:spLocks noGrp="1"/>
          </p:cNvSpPr>
          <p:nvPr>
            <p:ph type="title"/>
          </p:nvPr>
        </p:nvSpPr>
        <p:spPr>
          <a:xfrm>
            <a:off x="257700" y="322617"/>
            <a:ext cx="7044600" cy="66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l" sz="3600" b="1">
                <a:solidFill>
                  <a:srgbClr val="FF9900"/>
                </a:solidFill>
              </a:rPr>
              <a:t>Wat heb je nu?</a:t>
            </a:r>
            <a:endParaRPr sz="3600" b="1">
              <a:solidFill>
                <a:srgbClr val="FF9900"/>
              </a:solidFill>
            </a:endParaRPr>
          </a:p>
        </p:txBody>
      </p:sp>
      <p:sp>
        <p:nvSpPr>
          <p:cNvPr id="120" name="Google Shape;120;p18"/>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6</a:t>
            </a:fld>
            <a:endParaRPr/>
          </a:p>
        </p:txBody>
      </p:sp>
      <p:pic>
        <p:nvPicPr>
          <p:cNvPr id="121" name="Google Shape;121;p18"/>
          <p:cNvPicPr preferRelativeResize="0"/>
          <p:nvPr/>
        </p:nvPicPr>
        <p:blipFill>
          <a:blip r:embed="rId3">
            <a:alphaModFix/>
          </a:blip>
          <a:stretch>
            <a:fillRect/>
          </a:stretch>
        </p:blipFill>
        <p:spPr>
          <a:xfrm>
            <a:off x="0" y="1473719"/>
            <a:ext cx="7560001" cy="6019562"/>
          </a:xfrm>
          <a:prstGeom prst="rect">
            <a:avLst/>
          </a:prstGeom>
          <a:noFill/>
          <a:ln>
            <a:noFill/>
          </a:ln>
        </p:spPr>
      </p:pic>
      <p:cxnSp>
        <p:nvCxnSpPr>
          <p:cNvPr id="122" name="Google Shape;122;p18"/>
          <p:cNvCxnSpPr/>
          <p:nvPr/>
        </p:nvCxnSpPr>
        <p:spPr>
          <a:xfrm rot="10800000" flipH="1">
            <a:off x="675200" y="3340875"/>
            <a:ext cx="15000" cy="667500"/>
          </a:xfrm>
          <a:prstGeom prst="straightConnector1">
            <a:avLst/>
          </a:prstGeom>
          <a:noFill/>
          <a:ln w="38100" cap="flat" cmpd="sng">
            <a:solidFill>
              <a:srgbClr val="38761D"/>
            </a:solidFill>
            <a:prstDash val="solid"/>
            <a:round/>
            <a:headEnd type="none" w="med" len="med"/>
            <a:tailEnd type="triangle" w="med" len="med"/>
          </a:ln>
        </p:spPr>
      </p:cxnSp>
      <p:cxnSp>
        <p:nvCxnSpPr>
          <p:cNvPr id="123" name="Google Shape;123;p18"/>
          <p:cNvCxnSpPr/>
          <p:nvPr/>
        </p:nvCxnSpPr>
        <p:spPr>
          <a:xfrm>
            <a:off x="675200" y="4803375"/>
            <a:ext cx="7500" cy="682500"/>
          </a:xfrm>
          <a:prstGeom prst="straightConnector1">
            <a:avLst/>
          </a:prstGeom>
          <a:noFill/>
          <a:ln w="38100" cap="flat" cmpd="sng">
            <a:solidFill>
              <a:srgbClr val="38761D"/>
            </a:solidFill>
            <a:prstDash val="solid"/>
            <a:round/>
            <a:headEnd type="none" w="med" len="med"/>
            <a:tailEnd type="triangle" w="med" len="med"/>
          </a:ln>
        </p:spPr>
      </p:cxnSp>
      <p:cxnSp>
        <p:nvCxnSpPr>
          <p:cNvPr id="124" name="Google Shape;124;p18"/>
          <p:cNvCxnSpPr/>
          <p:nvPr/>
        </p:nvCxnSpPr>
        <p:spPr>
          <a:xfrm rot="10800000" flipH="1">
            <a:off x="2575100" y="4435875"/>
            <a:ext cx="852600" cy="2400"/>
          </a:xfrm>
          <a:prstGeom prst="straightConnector1">
            <a:avLst/>
          </a:prstGeom>
          <a:noFill/>
          <a:ln w="38100" cap="flat" cmpd="sng">
            <a:solidFill>
              <a:srgbClr val="FF0000"/>
            </a:solidFill>
            <a:prstDash val="solid"/>
            <a:round/>
            <a:headEnd type="none" w="med" len="med"/>
            <a:tailEnd type="triangle" w="med" len="med"/>
          </a:ln>
        </p:spPr>
      </p:cxnSp>
      <p:cxnSp>
        <p:nvCxnSpPr>
          <p:cNvPr id="125" name="Google Shape;125;p18"/>
          <p:cNvCxnSpPr/>
          <p:nvPr/>
        </p:nvCxnSpPr>
        <p:spPr>
          <a:xfrm flipH="1">
            <a:off x="4425200" y="4270875"/>
            <a:ext cx="855000" cy="22500"/>
          </a:xfrm>
          <a:prstGeom prst="straightConnector1">
            <a:avLst/>
          </a:prstGeom>
          <a:noFill/>
          <a:ln w="38100" cap="flat" cmpd="sng">
            <a:solidFill>
              <a:schemeClr val="dk1"/>
            </a:solidFill>
            <a:prstDash val="solid"/>
            <a:round/>
            <a:headEnd type="none" w="med" len="med"/>
            <a:tailEnd type="triangle" w="med" len="med"/>
          </a:ln>
        </p:spPr>
      </p:cxnSp>
      <p:sp>
        <p:nvSpPr>
          <p:cNvPr id="126" name="Google Shape;126;p18"/>
          <p:cNvSpPr txBox="1"/>
          <p:nvPr/>
        </p:nvSpPr>
        <p:spPr>
          <a:xfrm>
            <a:off x="615150" y="7792825"/>
            <a:ext cx="6329700" cy="2249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rgbClr val="38761D"/>
              </a:buClr>
              <a:buSzPts val="1800"/>
              <a:buChar char="●"/>
            </a:pPr>
            <a:r>
              <a:rPr lang="nl" sz="1800">
                <a:solidFill>
                  <a:srgbClr val="38761D"/>
                </a:solidFill>
              </a:rPr>
              <a:t>de speler kan omhoog en omlaag.</a:t>
            </a:r>
            <a:endParaRPr sz="1800">
              <a:solidFill>
                <a:srgbClr val="38761D"/>
              </a:solidFill>
            </a:endParaRPr>
          </a:p>
          <a:p>
            <a:pPr marL="457200" lvl="0" indent="-342900" algn="l" rtl="0">
              <a:spcBef>
                <a:spcPts val="0"/>
              </a:spcBef>
              <a:spcAft>
                <a:spcPts val="0"/>
              </a:spcAft>
              <a:buClr>
                <a:srgbClr val="FF0000"/>
              </a:buClr>
              <a:buSzPts val="1800"/>
              <a:buChar char="●"/>
            </a:pPr>
            <a:r>
              <a:rPr lang="nl" sz="1800">
                <a:solidFill>
                  <a:srgbClr val="FF0000"/>
                </a:solidFill>
              </a:rPr>
              <a:t>de kogel beweegt naar rechts.</a:t>
            </a:r>
            <a:endParaRPr sz="1800">
              <a:solidFill>
                <a:srgbClr val="FF0000"/>
              </a:solidFill>
            </a:endParaRPr>
          </a:p>
          <a:p>
            <a:pPr marL="457200" lvl="0" indent="-342900" algn="l" rtl="0">
              <a:spcBef>
                <a:spcPts val="0"/>
              </a:spcBef>
              <a:spcAft>
                <a:spcPts val="0"/>
              </a:spcAft>
              <a:buSzPts val="1800"/>
              <a:buChar char="●"/>
            </a:pPr>
            <a:r>
              <a:rPr lang="nl" sz="1800"/>
              <a:t>de basis vijand beweegt naar links.</a:t>
            </a: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r>
              <a:rPr lang="nl" sz="1800">
                <a:solidFill>
                  <a:srgbClr val="595959"/>
                </a:solidFill>
              </a:rPr>
              <a:t>Als je ook een leuke achtergrond wilt hebben kan je die selecteren door het kostuum aan te passen.</a:t>
            </a:r>
            <a:endParaRPr sz="1800">
              <a:solidFill>
                <a:srgbClr val="59595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9"/>
          <p:cNvSpPr txBox="1">
            <a:spLocks noGrp="1"/>
          </p:cNvSpPr>
          <p:nvPr>
            <p:ph type="title"/>
          </p:nvPr>
        </p:nvSpPr>
        <p:spPr>
          <a:xfrm>
            <a:off x="257700" y="214771"/>
            <a:ext cx="7044600" cy="67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nl" sz="3600" b="1">
                <a:solidFill>
                  <a:srgbClr val="FF9900"/>
                </a:solidFill>
              </a:rPr>
              <a:t>Zelf kiezen</a:t>
            </a:r>
            <a:endParaRPr sz="3600" b="1">
              <a:solidFill>
                <a:srgbClr val="FF9900"/>
              </a:solidFill>
            </a:endParaRPr>
          </a:p>
        </p:txBody>
      </p:sp>
      <p:sp>
        <p:nvSpPr>
          <p:cNvPr id="132" name="Google Shape;132;p19"/>
          <p:cNvSpPr txBox="1"/>
          <p:nvPr/>
        </p:nvSpPr>
        <p:spPr>
          <a:xfrm>
            <a:off x="257700" y="995900"/>
            <a:ext cx="71739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1800">
                <a:solidFill>
                  <a:schemeClr val="dk2"/>
                </a:solidFill>
              </a:rPr>
              <a:t>In het volgende stuk kan je zelf kiezen wat je gaat doen. De moeilijkheidsgraad is aangegeven met een bolletje rechtsboven.</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Groen	= makkelijk</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Geel	= gemiddeld</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Rood	= moeilijk</a:t>
            </a: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133" name="Google Shape;133;p19"/>
          <p:cNvSpPr/>
          <p:nvPr/>
        </p:nvSpPr>
        <p:spPr>
          <a:xfrm>
            <a:off x="3630900" y="1902475"/>
            <a:ext cx="427500" cy="427500"/>
          </a:xfrm>
          <a:prstGeom prst="ellipse">
            <a:avLst/>
          </a:prstGeom>
          <a:solidFill>
            <a:srgbClr val="00FF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FF00"/>
              </a:solidFill>
              <a:highlight>
                <a:srgbClr val="00FF00"/>
              </a:highlight>
            </a:endParaRPr>
          </a:p>
        </p:txBody>
      </p:sp>
      <p:sp>
        <p:nvSpPr>
          <p:cNvPr id="134" name="Google Shape;134;p19"/>
          <p:cNvSpPr/>
          <p:nvPr/>
        </p:nvSpPr>
        <p:spPr>
          <a:xfrm>
            <a:off x="5482800" y="1902475"/>
            <a:ext cx="427500" cy="427500"/>
          </a:xfrm>
          <a:prstGeom prst="ellipse">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FF00"/>
              </a:solidFill>
              <a:highlight>
                <a:srgbClr val="00FF00"/>
              </a:highlight>
            </a:endParaRPr>
          </a:p>
        </p:txBody>
      </p:sp>
      <p:sp>
        <p:nvSpPr>
          <p:cNvPr id="135" name="Google Shape;135;p19"/>
          <p:cNvSpPr/>
          <p:nvPr/>
        </p:nvSpPr>
        <p:spPr>
          <a:xfrm>
            <a:off x="4556850" y="1902475"/>
            <a:ext cx="427500" cy="427500"/>
          </a:xfrm>
          <a:prstGeom prst="ellipse">
            <a:avLst/>
          </a:prstGeom>
          <a:solidFill>
            <a:srgbClr val="FFFF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FF00"/>
              </a:solidFill>
              <a:highlight>
                <a:srgbClr val="00FF00"/>
              </a:highlight>
            </a:endParaRPr>
          </a:p>
        </p:txBody>
      </p:sp>
      <p:sp>
        <p:nvSpPr>
          <p:cNvPr id="136" name="Google Shape;136;p19"/>
          <p:cNvSpPr txBox="1"/>
          <p:nvPr/>
        </p:nvSpPr>
        <p:spPr>
          <a:xfrm>
            <a:off x="157950" y="2626150"/>
            <a:ext cx="7244100" cy="249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2400" b="1">
                <a:solidFill>
                  <a:srgbClr val="FF9900"/>
                </a:solidFill>
              </a:rPr>
              <a:t>Vijanden</a:t>
            </a:r>
            <a:endParaRPr sz="2400" b="1">
              <a:solidFill>
                <a:srgbClr val="FF9900"/>
              </a:solidFill>
            </a:endParaRPr>
          </a:p>
          <a:p>
            <a:pPr marL="457200" lvl="0" indent="-342900" algn="l" rtl="0">
              <a:spcBef>
                <a:spcPts val="0"/>
              </a:spcBef>
              <a:spcAft>
                <a:spcPts val="0"/>
              </a:spcAft>
              <a:buClr>
                <a:schemeClr val="dk2"/>
              </a:buClr>
              <a:buSzPts val="1800"/>
              <a:buChar char="-"/>
            </a:pPr>
            <a:r>
              <a:rPr lang="nl" sz="1800">
                <a:solidFill>
                  <a:schemeClr val="dk2"/>
                </a:solidFill>
              </a:rPr>
              <a:t>Volger, volgt de speler</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Ondoodbare, kan niet dood gemaakt worden door de speler</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Sprinter, wacht even voordat hij snel naar voren gaat</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Groep, dit zijn meerdere vijanden die in een groep zijn</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Opsplitser, splitst één keer op als hij wordt geraakt door een kogel</a:t>
            </a: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137" name="Google Shape;137;p19"/>
          <p:cNvSpPr txBox="1"/>
          <p:nvPr/>
        </p:nvSpPr>
        <p:spPr>
          <a:xfrm>
            <a:off x="323400" y="6014125"/>
            <a:ext cx="70425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2400" b="1">
                <a:solidFill>
                  <a:srgbClr val="FF9900"/>
                </a:solidFill>
              </a:rPr>
              <a:t>Kogel</a:t>
            </a:r>
            <a:endParaRPr sz="2400" b="1">
              <a:solidFill>
                <a:srgbClr val="FF9900"/>
              </a:solidFill>
            </a:endParaRPr>
          </a:p>
          <a:p>
            <a:pPr marL="457200" lvl="0" indent="-342900" algn="l" rtl="0">
              <a:spcBef>
                <a:spcPts val="0"/>
              </a:spcBef>
              <a:spcAft>
                <a:spcPts val="0"/>
              </a:spcAft>
              <a:buClr>
                <a:schemeClr val="dk2"/>
              </a:buClr>
              <a:buSzPts val="1800"/>
              <a:buChar char="-"/>
            </a:pPr>
            <a:r>
              <a:rPr lang="nl" sz="1800">
                <a:solidFill>
                  <a:schemeClr val="dk2"/>
                </a:solidFill>
              </a:rPr>
              <a:t>Grote kogel, de kogel is groter maar je kan hem minder vaak afschieten</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Kleine kogel, de kogel is kleiner maar beweegt sneller</a:t>
            </a:r>
            <a:endParaRPr sz="1800">
              <a:solidFill>
                <a:schemeClr val="dk2"/>
              </a:solidFill>
            </a:endParaRPr>
          </a:p>
        </p:txBody>
      </p:sp>
      <p:sp>
        <p:nvSpPr>
          <p:cNvPr id="138" name="Google Shape;138;p19"/>
          <p:cNvSpPr txBox="1"/>
          <p:nvPr/>
        </p:nvSpPr>
        <p:spPr>
          <a:xfrm>
            <a:off x="226650" y="8987525"/>
            <a:ext cx="7106700" cy="138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2400" b="1">
                <a:solidFill>
                  <a:srgbClr val="FF9900"/>
                </a:solidFill>
              </a:rPr>
              <a:t>Andere dingen</a:t>
            </a:r>
            <a:endParaRPr sz="2400" b="1">
              <a:solidFill>
                <a:srgbClr val="FF9900"/>
              </a:solidFill>
            </a:endParaRPr>
          </a:p>
          <a:p>
            <a:pPr marL="457200" lvl="0" indent="-342900" algn="l" rtl="0">
              <a:spcBef>
                <a:spcPts val="0"/>
              </a:spcBef>
              <a:spcAft>
                <a:spcPts val="0"/>
              </a:spcAft>
              <a:buClr>
                <a:schemeClr val="dk2"/>
              </a:buClr>
              <a:buSzPts val="1800"/>
              <a:buChar char="-"/>
            </a:pPr>
            <a:r>
              <a:rPr lang="nl" sz="1800">
                <a:solidFill>
                  <a:schemeClr val="dk2"/>
                </a:solidFill>
              </a:rPr>
              <a:t>Score, hou bij hoeveel vijanden je hebt verslagen</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Oplopende moeilijkheid, zorgt ervoor dat het spel steeds moeilijker wordt</a:t>
            </a:r>
            <a:endParaRPr sz="1800">
              <a:solidFill>
                <a:schemeClr val="dk2"/>
              </a:solidFill>
            </a:endParaRPr>
          </a:p>
        </p:txBody>
      </p:sp>
      <p:pic>
        <p:nvPicPr>
          <p:cNvPr id="139" name="Google Shape;139;p19" title="Screenshot 2026-01-30 10.45.25.png"/>
          <p:cNvPicPr preferRelativeResize="0"/>
          <p:nvPr/>
        </p:nvPicPr>
        <p:blipFill>
          <a:blip r:embed="rId3">
            <a:alphaModFix/>
          </a:blip>
          <a:stretch>
            <a:fillRect/>
          </a:stretch>
        </p:blipFill>
        <p:spPr>
          <a:xfrm>
            <a:off x="2730872" y="4526487"/>
            <a:ext cx="2227550" cy="1783472"/>
          </a:xfrm>
          <a:prstGeom prst="rect">
            <a:avLst/>
          </a:prstGeom>
          <a:noFill/>
          <a:ln>
            <a:noFill/>
          </a:ln>
        </p:spPr>
      </p:pic>
      <p:pic>
        <p:nvPicPr>
          <p:cNvPr id="140" name="Google Shape;140;p19" title="Screenshot 2026-01-30 10.46.47.png"/>
          <p:cNvPicPr preferRelativeResize="0"/>
          <p:nvPr/>
        </p:nvPicPr>
        <p:blipFill>
          <a:blip r:embed="rId4">
            <a:alphaModFix/>
          </a:blip>
          <a:stretch>
            <a:fillRect/>
          </a:stretch>
        </p:blipFill>
        <p:spPr>
          <a:xfrm>
            <a:off x="1541625" y="7807550"/>
            <a:ext cx="4476750" cy="981075"/>
          </a:xfrm>
          <a:prstGeom prst="rect">
            <a:avLst/>
          </a:prstGeom>
          <a:noFill/>
          <a:ln>
            <a:noFill/>
          </a:ln>
        </p:spPr>
      </p:pic>
      <p:sp>
        <p:nvSpPr>
          <p:cNvPr id="141" name="Google Shape;141;p19"/>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0"/>
          <p:cNvPicPr preferRelativeResize="0"/>
          <p:nvPr/>
        </p:nvPicPr>
        <p:blipFill rotWithShape="1">
          <a:blip r:embed="rId3">
            <a:alphaModFix/>
          </a:blip>
          <a:srcRect b="42591"/>
          <a:stretch/>
        </p:blipFill>
        <p:spPr>
          <a:xfrm>
            <a:off x="230700" y="3844350"/>
            <a:ext cx="3348700" cy="2941075"/>
          </a:xfrm>
          <a:prstGeom prst="rect">
            <a:avLst/>
          </a:prstGeom>
          <a:noFill/>
          <a:ln>
            <a:noFill/>
          </a:ln>
        </p:spPr>
      </p:pic>
      <p:sp>
        <p:nvSpPr>
          <p:cNvPr id="147" name="Google Shape;147;p20"/>
          <p:cNvSpPr/>
          <p:nvPr/>
        </p:nvSpPr>
        <p:spPr>
          <a:xfrm>
            <a:off x="321347" y="5150913"/>
            <a:ext cx="2141400" cy="1070400"/>
          </a:xfrm>
          <a:prstGeom prst="rect">
            <a:avLst/>
          </a:prstGeom>
          <a:noFill/>
          <a:ln w="52775" cap="flat" cmpd="sng">
            <a:solidFill>
              <a:srgbClr val="FF0000"/>
            </a:solidFill>
            <a:prstDash val="solid"/>
            <a:round/>
            <a:headEnd type="none" w="sm" len="sm"/>
            <a:tailEnd type="none" w="sm" len="sm"/>
          </a:ln>
        </p:spPr>
        <p:txBody>
          <a:bodyPr spcFirstLastPara="1" wrap="square" lIns="126625" tIns="126625" rIns="126625" bIns="126625" anchor="ctr" anchorCtr="0">
            <a:noAutofit/>
          </a:bodyPr>
          <a:lstStyle/>
          <a:p>
            <a:pPr marL="0" lvl="0" indent="0" algn="ctr" rtl="0">
              <a:spcBef>
                <a:spcPts val="0"/>
              </a:spcBef>
              <a:spcAft>
                <a:spcPts val="0"/>
              </a:spcAft>
              <a:buNone/>
            </a:pPr>
            <a:endParaRPr sz="1938">
              <a:solidFill>
                <a:srgbClr val="FF0000"/>
              </a:solidFill>
            </a:endParaRPr>
          </a:p>
        </p:txBody>
      </p:sp>
      <p:sp>
        <p:nvSpPr>
          <p:cNvPr id="148" name="Google Shape;148;p20"/>
          <p:cNvSpPr txBox="1">
            <a:spLocks noGrp="1"/>
          </p:cNvSpPr>
          <p:nvPr>
            <p:ph type="title"/>
          </p:nvPr>
        </p:nvSpPr>
        <p:spPr>
          <a:xfrm>
            <a:off x="166923" y="179901"/>
            <a:ext cx="7044600" cy="1190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sz="3600" b="1">
                <a:solidFill>
                  <a:srgbClr val="FF9900"/>
                </a:solidFill>
              </a:rPr>
              <a:t>Volger</a:t>
            </a:r>
            <a:endParaRPr sz="3600" b="1">
              <a:solidFill>
                <a:srgbClr val="FF9900"/>
              </a:solidFill>
            </a:endParaRPr>
          </a:p>
        </p:txBody>
      </p:sp>
      <p:sp>
        <p:nvSpPr>
          <p:cNvPr id="149" name="Google Shape;149;p20"/>
          <p:cNvSpPr txBox="1">
            <a:spLocks noGrp="1"/>
          </p:cNvSpPr>
          <p:nvPr>
            <p:ph type="body" idx="1"/>
          </p:nvPr>
        </p:nvSpPr>
        <p:spPr>
          <a:xfrm>
            <a:off x="166925" y="940576"/>
            <a:ext cx="4914600" cy="3106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a:t>De volger is vergelijkbaar met de basis vijand, maar er is een klein verschil; hij gaat recht op de speler af.  Je gebruikt ook eigenlijk de code van de basis vijand.</a:t>
            </a:r>
            <a:endParaRPr/>
          </a:p>
          <a:p>
            <a:pPr marL="0" lvl="0" indent="0" algn="l" rtl="0">
              <a:spcBef>
                <a:spcPts val="1200"/>
              </a:spcBef>
              <a:spcAft>
                <a:spcPts val="0"/>
              </a:spcAft>
              <a:buNone/>
            </a:pPr>
            <a:r>
              <a:rPr lang="nl" sz="2400" b="1">
                <a:solidFill>
                  <a:srgbClr val="FF9900"/>
                </a:solidFill>
              </a:rPr>
              <a:t>Hoe maak je dit?</a:t>
            </a:r>
            <a:endParaRPr sz="2400" b="1">
              <a:solidFill>
                <a:srgbClr val="FF9900"/>
              </a:solidFill>
            </a:endParaRPr>
          </a:p>
          <a:p>
            <a:pPr marL="457200" lvl="0" indent="-342900" algn="l" rtl="0">
              <a:spcBef>
                <a:spcPts val="1200"/>
              </a:spcBef>
              <a:spcAft>
                <a:spcPts val="0"/>
              </a:spcAft>
              <a:buSzPts val="1800"/>
              <a:buChar char="●"/>
            </a:pPr>
            <a:r>
              <a:rPr lang="nl"/>
              <a:t>Verander het uiterlijk van de Volger</a:t>
            </a:r>
            <a:endParaRPr/>
          </a:p>
          <a:p>
            <a:pPr marL="457200" lvl="0" indent="-342900" algn="l" rtl="0">
              <a:spcBef>
                <a:spcPts val="0"/>
              </a:spcBef>
              <a:spcAft>
                <a:spcPts val="0"/>
              </a:spcAft>
              <a:buSzPts val="1800"/>
              <a:buChar char="●"/>
            </a:pPr>
            <a:r>
              <a:rPr lang="nl"/>
              <a:t>Zet het stukje code hier rechts zoals aangegeven hieronder.</a:t>
            </a:r>
            <a:endParaRPr/>
          </a:p>
        </p:txBody>
      </p:sp>
      <p:pic>
        <p:nvPicPr>
          <p:cNvPr id="150" name="Google Shape;150;p20"/>
          <p:cNvPicPr preferRelativeResize="0"/>
          <p:nvPr/>
        </p:nvPicPr>
        <p:blipFill>
          <a:blip r:embed="rId4">
            <a:alphaModFix/>
          </a:blip>
          <a:stretch>
            <a:fillRect/>
          </a:stretch>
        </p:blipFill>
        <p:spPr>
          <a:xfrm>
            <a:off x="3579401" y="3928786"/>
            <a:ext cx="3573900" cy="1759477"/>
          </a:xfrm>
          <a:prstGeom prst="rect">
            <a:avLst/>
          </a:prstGeom>
          <a:noFill/>
          <a:ln>
            <a:noFill/>
          </a:ln>
        </p:spPr>
      </p:pic>
      <p:sp>
        <p:nvSpPr>
          <p:cNvPr id="151" name="Google Shape;151;p20"/>
          <p:cNvSpPr txBox="1"/>
          <p:nvPr/>
        </p:nvSpPr>
        <p:spPr>
          <a:xfrm>
            <a:off x="169620" y="6588474"/>
            <a:ext cx="7044600" cy="190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nl" sz="2400" b="1">
                <a:solidFill>
                  <a:srgbClr val="FF9900"/>
                </a:solidFill>
              </a:rPr>
              <a:t>Hoe werkt het?</a:t>
            </a:r>
            <a:endParaRPr sz="2400" b="1">
              <a:solidFill>
                <a:srgbClr val="FF9900"/>
              </a:solidFill>
            </a:endParaRPr>
          </a:p>
          <a:p>
            <a:pPr marL="0" lvl="0" indent="0" algn="l" rtl="0">
              <a:spcBef>
                <a:spcPts val="0"/>
              </a:spcBef>
              <a:spcAft>
                <a:spcPts val="0"/>
              </a:spcAft>
              <a:buNone/>
            </a:pPr>
            <a:r>
              <a:rPr lang="nl" sz="1800">
                <a:solidFill>
                  <a:schemeClr val="dk2"/>
                </a:solidFill>
              </a:rPr>
              <a:t>In plaats van dat de vijand alleen maar naar links beweegt, gaat hij naar de speler. Dit doet hij door naar de speler te lopen en kijken. Het blok “Neem … stappen” zorgt ervoor dat hij loopt in de richting dat hij kijkt.</a:t>
            </a:r>
            <a:endParaRPr sz="1800">
              <a:solidFill>
                <a:schemeClr val="dk2"/>
              </a:solidFill>
            </a:endParaRPr>
          </a:p>
        </p:txBody>
      </p:sp>
      <p:pic>
        <p:nvPicPr>
          <p:cNvPr id="152" name="Google Shape;152;p20" title="Schermafbeelding 2026-01-23 131804.png"/>
          <p:cNvPicPr preferRelativeResize="0"/>
          <p:nvPr/>
        </p:nvPicPr>
        <p:blipFill>
          <a:blip r:embed="rId5">
            <a:alphaModFix/>
          </a:blip>
          <a:stretch>
            <a:fillRect/>
          </a:stretch>
        </p:blipFill>
        <p:spPr>
          <a:xfrm>
            <a:off x="3780004" y="7950501"/>
            <a:ext cx="3412225" cy="2556515"/>
          </a:xfrm>
          <a:prstGeom prst="rect">
            <a:avLst/>
          </a:prstGeom>
          <a:noFill/>
          <a:ln>
            <a:noFill/>
          </a:ln>
        </p:spPr>
      </p:pic>
      <p:cxnSp>
        <p:nvCxnSpPr>
          <p:cNvPr id="153" name="Google Shape;153;p20"/>
          <p:cNvCxnSpPr/>
          <p:nvPr/>
        </p:nvCxnSpPr>
        <p:spPr>
          <a:xfrm rot="10800000">
            <a:off x="4425956" y="8933427"/>
            <a:ext cx="1601400" cy="538500"/>
          </a:xfrm>
          <a:prstGeom prst="straightConnector1">
            <a:avLst/>
          </a:prstGeom>
          <a:noFill/>
          <a:ln w="76200" cap="flat" cmpd="sng">
            <a:solidFill>
              <a:schemeClr val="dk1"/>
            </a:solidFill>
            <a:prstDash val="solid"/>
            <a:round/>
            <a:headEnd type="none" w="med" len="med"/>
            <a:tailEnd type="triangle" w="med" len="med"/>
          </a:ln>
        </p:spPr>
      </p:cxnSp>
      <p:sp>
        <p:nvSpPr>
          <p:cNvPr id="154" name="Google Shape;154;p20"/>
          <p:cNvSpPr/>
          <p:nvPr/>
        </p:nvSpPr>
        <p:spPr>
          <a:xfrm>
            <a:off x="5803452" y="256135"/>
            <a:ext cx="427500" cy="427500"/>
          </a:xfrm>
          <a:prstGeom prst="ellipse">
            <a:avLst/>
          </a:prstGeom>
          <a:solidFill>
            <a:srgbClr val="00FF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FF00"/>
              </a:solidFill>
              <a:highlight>
                <a:srgbClr val="00FF00"/>
              </a:highlight>
            </a:endParaRPr>
          </a:p>
        </p:txBody>
      </p:sp>
      <p:sp>
        <p:nvSpPr>
          <p:cNvPr id="155" name="Google Shape;155;p20"/>
          <p:cNvSpPr txBox="1">
            <a:spLocks noGrp="1"/>
          </p:cNvSpPr>
          <p:nvPr>
            <p:ph type="sldNum" idx="12"/>
          </p:nvPr>
        </p:nvSpPr>
        <p:spPr>
          <a:xfrm>
            <a:off x="7005064" y="10037323"/>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8</a:t>
            </a:fld>
            <a:endParaRPr/>
          </a:p>
        </p:txBody>
      </p:sp>
      <p:pic>
        <p:nvPicPr>
          <p:cNvPr id="156" name="Google Shape;156;p20" title="Schermafbeelding 2026-02-05 110506.png"/>
          <p:cNvPicPr preferRelativeResize="0"/>
          <p:nvPr/>
        </p:nvPicPr>
        <p:blipFill>
          <a:blip r:embed="rId6">
            <a:alphaModFix/>
          </a:blip>
          <a:stretch>
            <a:fillRect/>
          </a:stretch>
        </p:blipFill>
        <p:spPr>
          <a:xfrm>
            <a:off x="3579403" y="2450518"/>
            <a:ext cx="3573900" cy="427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1"/>
          <p:cNvSpPr txBox="1">
            <a:spLocks noGrp="1"/>
          </p:cNvSpPr>
          <p:nvPr>
            <p:ph type="title"/>
          </p:nvPr>
        </p:nvSpPr>
        <p:spPr>
          <a:xfrm>
            <a:off x="257705" y="276893"/>
            <a:ext cx="7044600" cy="1190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sz="3600" b="1">
                <a:solidFill>
                  <a:srgbClr val="FF9900"/>
                </a:solidFill>
              </a:rPr>
              <a:t>Onsterfelijke</a:t>
            </a:r>
            <a:endParaRPr sz="3600" b="1">
              <a:solidFill>
                <a:srgbClr val="FF9900"/>
              </a:solidFill>
            </a:endParaRPr>
          </a:p>
        </p:txBody>
      </p:sp>
      <p:sp>
        <p:nvSpPr>
          <p:cNvPr id="162" name="Google Shape;162;p21"/>
          <p:cNvSpPr txBox="1">
            <a:spLocks noGrp="1"/>
          </p:cNvSpPr>
          <p:nvPr>
            <p:ph type="body" idx="1"/>
          </p:nvPr>
        </p:nvSpPr>
        <p:spPr>
          <a:xfrm>
            <a:off x="257700" y="1388525"/>
            <a:ext cx="4528800" cy="7956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a:t>Om de onsterfelijke vijand te maken moeten we zorgen dat kogels geen effect hebben op de vijand. Dus als we de code weghalen die zorgt voor het doodmaken van de vijand, kan hij niet meer dood!!!</a:t>
            </a: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nl"/>
              <a:t>Verander het uiterlijk van de onsterfelijke.</a:t>
            </a:r>
            <a:endParaRPr/>
          </a:p>
          <a:p>
            <a:pPr marL="0" lvl="0" indent="0" algn="l" rtl="0">
              <a:spcBef>
                <a:spcPts val="1200"/>
              </a:spcBef>
              <a:spcAft>
                <a:spcPts val="0"/>
              </a:spcAft>
              <a:buNone/>
            </a:pPr>
            <a:endParaRPr/>
          </a:p>
          <a:p>
            <a:pPr marL="0" lvl="0" indent="0" algn="l" rtl="0">
              <a:spcBef>
                <a:spcPts val="1200"/>
              </a:spcBef>
              <a:spcAft>
                <a:spcPts val="0"/>
              </a:spcAft>
              <a:buNone/>
            </a:pPr>
            <a:r>
              <a:rPr lang="nl" sz="2400" b="1">
                <a:solidFill>
                  <a:srgbClr val="FF9900"/>
                </a:solidFill>
              </a:rPr>
              <a:t>Hoe doe je dat?</a:t>
            </a:r>
            <a:endParaRPr sz="2400" b="1">
              <a:solidFill>
                <a:srgbClr val="FF9900"/>
              </a:solidFill>
            </a:endParaRPr>
          </a:p>
          <a:p>
            <a:pPr marL="457200" lvl="0" indent="-342900" algn="l" rtl="0">
              <a:spcBef>
                <a:spcPts val="1200"/>
              </a:spcBef>
              <a:spcAft>
                <a:spcPts val="0"/>
              </a:spcAft>
              <a:buSzPts val="1800"/>
              <a:buChar char="-"/>
            </a:pPr>
            <a:r>
              <a:rPr lang="nl"/>
              <a:t>Haal het stukje code van hier rechts weg uit de basis code</a:t>
            </a:r>
            <a:endParaRPr/>
          </a:p>
          <a:p>
            <a:pPr marL="0" lvl="0" indent="0" algn="l" rtl="0">
              <a:spcBef>
                <a:spcPts val="1200"/>
              </a:spcBef>
              <a:spcAft>
                <a:spcPts val="0"/>
              </a:spcAft>
              <a:buNone/>
            </a:pPr>
            <a:endParaRPr/>
          </a:p>
          <a:p>
            <a:pPr marL="0" lvl="0" indent="0" algn="l" rtl="0">
              <a:spcBef>
                <a:spcPts val="1200"/>
              </a:spcBef>
              <a:spcAft>
                <a:spcPts val="0"/>
              </a:spcAft>
              <a:buNone/>
            </a:pPr>
            <a:r>
              <a:rPr lang="nl" sz="2400" b="1">
                <a:solidFill>
                  <a:srgbClr val="FF9900"/>
                </a:solidFill>
              </a:rPr>
              <a:t>Hoe werkt dit?</a:t>
            </a:r>
            <a:endParaRPr sz="2400" b="1">
              <a:solidFill>
                <a:srgbClr val="FF9900"/>
              </a:solidFill>
            </a:endParaRPr>
          </a:p>
          <a:p>
            <a:pPr marL="0" lvl="0" indent="0" algn="l" rtl="0">
              <a:spcBef>
                <a:spcPts val="1200"/>
              </a:spcBef>
              <a:spcAft>
                <a:spcPts val="1200"/>
              </a:spcAft>
              <a:buNone/>
            </a:pPr>
            <a:r>
              <a:rPr lang="nl"/>
              <a:t>Nu checked de vijand niet meer of hij wordt geschoten of niet, dus kogels hebben geen effect meer op de onsterfelijke.</a:t>
            </a:r>
            <a:endParaRPr/>
          </a:p>
        </p:txBody>
      </p:sp>
      <p:pic>
        <p:nvPicPr>
          <p:cNvPr id="163" name="Google Shape;163;p21" title="Schermafbeelding 2026-01-27 130830.png"/>
          <p:cNvPicPr preferRelativeResize="0"/>
          <p:nvPr/>
        </p:nvPicPr>
        <p:blipFill>
          <a:blip r:embed="rId3">
            <a:alphaModFix/>
          </a:blip>
          <a:stretch>
            <a:fillRect/>
          </a:stretch>
        </p:blipFill>
        <p:spPr>
          <a:xfrm>
            <a:off x="4862700" y="1252708"/>
            <a:ext cx="2639925" cy="1979950"/>
          </a:xfrm>
          <a:prstGeom prst="rect">
            <a:avLst/>
          </a:prstGeom>
          <a:noFill/>
          <a:ln>
            <a:noFill/>
          </a:ln>
        </p:spPr>
      </p:pic>
      <p:pic>
        <p:nvPicPr>
          <p:cNvPr id="164" name="Google Shape;164;p21"/>
          <p:cNvPicPr preferRelativeResize="0"/>
          <p:nvPr/>
        </p:nvPicPr>
        <p:blipFill>
          <a:blip r:embed="rId4">
            <a:alphaModFix/>
          </a:blip>
          <a:stretch>
            <a:fillRect/>
          </a:stretch>
        </p:blipFill>
        <p:spPr>
          <a:xfrm>
            <a:off x="4568327" y="7069941"/>
            <a:ext cx="2468699" cy="2468699"/>
          </a:xfrm>
          <a:prstGeom prst="rect">
            <a:avLst/>
          </a:prstGeom>
          <a:noFill/>
          <a:ln>
            <a:noFill/>
          </a:ln>
        </p:spPr>
      </p:pic>
      <p:sp>
        <p:nvSpPr>
          <p:cNvPr id="165" name="Google Shape;165;p21"/>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9</a:t>
            </a:fld>
            <a:endParaRPr/>
          </a:p>
        </p:txBody>
      </p:sp>
      <p:pic>
        <p:nvPicPr>
          <p:cNvPr id="166" name="Google Shape;166;p21" title="Schermafbeelding 2026-02-05 110506.png"/>
          <p:cNvPicPr preferRelativeResize="0"/>
          <p:nvPr/>
        </p:nvPicPr>
        <p:blipFill>
          <a:blip r:embed="rId5">
            <a:alphaModFix/>
          </a:blip>
          <a:stretch>
            <a:fillRect/>
          </a:stretch>
        </p:blipFill>
        <p:spPr>
          <a:xfrm>
            <a:off x="3928726" y="3663038"/>
            <a:ext cx="3573900" cy="427500"/>
          </a:xfrm>
          <a:prstGeom prst="rect">
            <a:avLst/>
          </a:prstGeom>
          <a:noFill/>
          <a:ln>
            <a:noFill/>
          </a:ln>
        </p:spPr>
      </p:pic>
      <p:pic>
        <p:nvPicPr>
          <p:cNvPr id="167" name="Google Shape;167;p21"/>
          <p:cNvPicPr preferRelativeResize="0"/>
          <p:nvPr/>
        </p:nvPicPr>
        <p:blipFill>
          <a:blip r:embed="rId6">
            <a:alphaModFix/>
          </a:blip>
          <a:stretch>
            <a:fillRect/>
          </a:stretch>
        </p:blipFill>
        <p:spPr>
          <a:xfrm>
            <a:off x="4568325" y="5346000"/>
            <a:ext cx="2897750" cy="1568950"/>
          </a:xfrm>
          <a:prstGeom prst="rect">
            <a:avLst/>
          </a:prstGeom>
          <a:noFill/>
          <a:ln>
            <a:noFill/>
          </a:ln>
        </p:spPr>
      </p:pic>
      <p:sp>
        <p:nvSpPr>
          <p:cNvPr id="168" name="Google Shape;168;p21"/>
          <p:cNvSpPr/>
          <p:nvPr/>
        </p:nvSpPr>
        <p:spPr>
          <a:xfrm>
            <a:off x="5803452" y="256135"/>
            <a:ext cx="427500" cy="427500"/>
          </a:xfrm>
          <a:prstGeom prst="ellipse">
            <a:avLst/>
          </a:prstGeom>
          <a:solidFill>
            <a:srgbClr val="00FF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FF00"/>
              </a:solidFill>
              <a:highlight>
                <a:srgbClr val="00FF00"/>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2"/>
          <p:cNvSpPr txBox="1">
            <a:spLocks noGrp="1"/>
          </p:cNvSpPr>
          <p:nvPr>
            <p:ph type="title"/>
          </p:nvPr>
        </p:nvSpPr>
        <p:spPr>
          <a:xfrm>
            <a:off x="226983" y="360397"/>
            <a:ext cx="6617100" cy="750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sz="3600" b="1">
                <a:solidFill>
                  <a:srgbClr val="FF9900"/>
                </a:solidFill>
              </a:rPr>
              <a:t>Sprinter</a:t>
            </a:r>
            <a:endParaRPr sz="3600" b="1">
              <a:solidFill>
                <a:srgbClr val="FF9900"/>
              </a:solidFill>
            </a:endParaRPr>
          </a:p>
        </p:txBody>
      </p:sp>
      <p:sp>
        <p:nvSpPr>
          <p:cNvPr id="174" name="Google Shape;174;p22"/>
          <p:cNvSpPr txBox="1">
            <a:spLocks noGrp="1"/>
          </p:cNvSpPr>
          <p:nvPr>
            <p:ph type="body" idx="1"/>
          </p:nvPr>
        </p:nvSpPr>
        <p:spPr>
          <a:xfrm>
            <a:off x="150175" y="1484481"/>
            <a:ext cx="3919200" cy="329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35"/>
              <a:buNone/>
            </a:pPr>
            <a:r>
              <a:rPr lang="nl" sz="1829"/>
              <a:t>Je wilt deze vijand sneller maken dan de basis vijand. Dat zorgt voor een extra leuke uitdaging. </a:t>
            </a:r>
            <a:endParaRPr sz="1829"/>
          </a:p>
          <a:p>
            <a:pPr marL="457200" lvl="0" indent="-344805" algn="l" rtl="0">
              <a:spcBef>
                <a:spcPts val="1200"/>
              </a:spcBef>
              <a:spcAft>
                <a:spcPts val="0"/>
              </a:spcAft>
              <a:buSzPts val="1830"/>
              <a:buChar char="●"/>
            </a:pPr>
            <a:r>
              <a:rPr lang="nl" sz="1829"/>
              <a:t>Verander het uiterlijk van de Sprinter</a:t>
            </a:r>
            <a:endParaRPr sz="1829"/>
          </a:p>
          <a:p>
            <a:pPr marL="0" lvl="0" indent="0" algn="l" rtl="0">
              <a:spcBef>
                <a:spcPts val="1200"/>
              </a:spcBef>
              <a:spcAft>
                <a:spcPts val="0"/>
              </a:spcAft>
              <a:buSzPts val="935"/>
              <a:buNone/>
            </a:pPr>
            <a:r>
              <a:rPr lang="nl" sz="1829"/>
              <a:t>Hoe doe je dit?</a:t>
            </a:r>
            <a:endParaRPr sz="1829"/>
          </a:p>
          <a:p>
            <a:pPr marL="457200" lvl="0" indent="-344805" algn="l" rtl="0">
              <a:spcBef>
                <a:spcPts val="1200"/>
              </a:spcBef>
              <a:spcAft>
                <a:spcPts val="0"/>
              </a:spcAft>
              <a:buSzPts val="1830"/>
              <a:buChar char="-"/>
            </a:pPr>
            <a:r>
              <a:rPr lang="nl" sz="1829"/>
              <a:t>Gebruik de code die gegeven is</a:t>
            </a:r>
            <a:endParaRPr sz="1829"/>
          </a:p>
          <a:p>
            <a:pPr marL="457200" lvl="0" indent="-344805" algn="l" rtl="0">
              <a:spcBef>
                <a:spcPts val="0"/>
              </a:spcBef>
              <a:spcAft>
                <a:spcPts val="0"/>
              </a:spcAft>
              <a:buSzPts val="1830"/>
              <a:buChar char="-"/>
            </a:pPr>
            <a:r>
              <a:rPr lang="nl" sz="1829"/>
              <a:t>Zorg dat het stukje code hier rechts onder ‘Wanneer ik als kloon start’.</a:t>
            </a:r>
            <a:endParaRPr sz="1829"/>
          </a:p>
          <a:p>
            <a:pPr marL="457200" lvl="0" indent="-344805" algn="l" rtl="0">
              <a:spcBef>
                <a:spcPts val="0"/>
              </a:spcBef>
              <a:spcAft>
                <a:spcPts val="0"/>
              </a:spcAft>
              <a:buSzPts val="1830"/>
              <a:buChar char="-"/>
            </a:pPr>
            <a:r>
              <a:rPr lang="nl" sz="1829"/>
              <a:t>Zet de snelheid hoger bij het stukje “ga naar x: … y: …” </a:t>
            </a:r>
            <a:endParaRPr sz="1829"/>
          </a:p>
        </p:txBody>
      </p:sp>
      <p:sp>
        <p:nvSpPr>
          <p:cNvPr id="175" name="Google Shape;175;p22"/>
          <p:cNvSpPr txBox="1"/>
          <p:nvPr/>
        </p:nvSpPr>
        <p:spPr>
          <a:xfrm>
            <a:off x="298600" y="5852164"/>
            <a:ext cx="6706200" cy="1633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nl" sz="2400" b="1">
                <a:solidFill>
                  <a:schemeClr val="accent4"/>
                </a:solidFill>
              </a:rPr>
              <a:t>Hoe werkt het?</a:t>
            </a:r>
            <a:endParaRPr sz="2400" b="1">
              <a:solidFill>
                <a:schemeClr val="accent4"/>
              </a:solidFill>
            </a:endParaRPr>
          </a:p>
          <a:p>
            <a:pPr marL="0" lvl="0" indent="0" algn="l" rtl="0">
              <a:lnSpc>
                <a:spcPct val="115000"/>
              </a:lnSpc>
              <a:spcBef>
                <a:spcPts val="1200"/>
              </a:spcBef>
              <a:spcAft>
                <a:spcPts val="0"/>
              </a:spcAft>
              <a:buNone/>
            </a:pPr>
            <a:r>
              <a:rPr lang="nl" sz="1800">
                <a:solidFill>
                  <a:schemeClr val="dk2"/>
                </a:solidFill>
              </a:rPr>
              <a:t>Het getal in het blok “verander X met __” staat standaard op 5 hoe hoger het getal hoe sneller je vijand is. En met de code van rechtsboven kan je hem al zien.</a:t>
            </a:r>
            <a:endParaRPr sz="1800">
              <a:solidFill>
                <a:schemeClr val="dk2"/>
              </a:solidFill>
            </a:endParaRPr>
          </a:p>
          <a:p>
            <a:pPr marL="0" lvl="0" indent="0" algn="l" rtl="0">
              <a:spcBef>
                <a:spcPts val="1200"/>
              </a:spcBef>
              <a:spcAft>
                <a:spcPts val="0"/>
              </a:spcAft>
              <a:buNone/>
            </a:pPr>
            <a:endParaRPr sz="1800">
              <a:solidFill>
                <a:schemeClr val="dk2"/>
              </a:solidFill>
            </a:endParaRPr>
          </a:p>
        </p:txBody>
      </p:sp>
      <p:sp>
        <p:nvSpPr>
          <p:cNvPr id="176" name="Google Shape;176;p22"/>
          <p:cNvSpPr/>
          <p:nvPr/>
        </p:nvSpPr>
        <p:spPr>
          <a:xfrm>
            <a:off x="5798819" y="273431"/>
            <a:ext cx="427500" cy="427500"/>
          </a:xfrm>
          <a:prstGeom prst="ellipse">
            <a:avLst/>
          </a:prstGeom>
          <a:solidFill>
            <a:srgbClr val="FFFF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FF00"/>
              </a:solidFill>
              <a:highlight>
                <a:srgbClr val="00FF00"/>
              </a:highlight>
            </a:endParaRPr>
          </a:p>
        </p:txBody>
      </p:sp>
      <p:pic>
        <p:nvPicPr>
          <p:cNvPr id="177" name="Google Shape;177;p22" title="Screenshot 2026-01-30 10.57.12.png"/>
          <p:cNvPicPr preferRelativeResize="0"/>
          <p:nvPr/>
        </p:nvPicPr>
        <p:blipFill>
          <a:blip r:embed="rId3">
            <a:alphaModFix/>
          </a:blip>
          <a:stretch>
            <a:fillRect/>
          </a:stretch>
        </p:blipFill>
        <p:spPr>
          <a:xfrm>
            <a:off x="4037550" y="3717243"/>
            <a:ext cx="3535200" cy="1863513"/>
          </a:xfrm>
          <a:prstGeom prst="rect">
            <a:avLst/>
          </a:prstGeom>
          <a:noFill/>
          <a:ln>
            <a:noFill/>
          </a:ln>
        </p:spPr>
      </p:pic>
      <p:pic>
        <p:nvPicPr>
          <p:cNvPr id="178" name="Google Shape;178;p22" title="download.jpg"/>
          <p:cNvPicPr preferRelativeResize="0"/>
          <p:nvPr/>
        </p:nvPicPr>
        <p:blipFill>
          <a:blip r:embed="rId4">
            <a:alphaModFix/>
          </a:blip>
          <a:stretch>
            <a:fillRect/>
          </a:stretch>
        </p:blipFill>
        <p:spPr>
          <a:xfrm>
            <a:off x="882413" y="7485674"/>
            <a:ext cx="5324828" cy="2907625"/>
          </a:xfrm>
          <a:prstGeom prst="rect">
            <a:avLst/>
          </a:prstGeom>
          <a:noFill/>
          <a:ln>
            <a:noFill/>
          </a:ln>
        </p:spPr>
      </p:pic>
      <p:sp>
        <p:nvSpPr>
          <p:cNvPr id="179" name="Google Shape;179;p22"/>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10</a:t>
            </a:fld>
            <a:endParaRPr/>
          </a:p>
        </p:txBody>
      </p:sp>
      <p:pic>
        <p:nvPicPr>
          <p:cNvPr id="180" name="Google Shape;180;p22" title="Schermafbeelding 2026-02-05 110506.png"/>
          <p:cNvPicPr preferRelativeResize="0"/>
          <p:nvPr/>
        </p:nvPicPr>
        <p:blipFill>
          <a:blip r:embed="rId5">
            <a:alphaModFix/>
          </a:blip>
          <a:stretch>
            <a:fillRect/>
          </a:stretch>
        </p:blipFill>
        <p:spPr>
          <a:xfrm>
            <a:off x="3796199" y="2381628"/>
            <a:ext cx="3573937" cy="427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23"/>
          <p:cNvPicPr preferRelativeResize="0"/>
          <p:nvPr/>
        </p:nvPicPr>
        <p:blipFill rotWithShape="1">
          <a:blip r:embed="rId3">
            <a:alphaModFix/>
          </a:blip>
          <a:srcRect r="30599"/>
          <a:stretch/>
        </p:blipFill>
        <p:spPr>
          <a:xfrm>
            <a:off x="3325000" y="2359350"/>
            <a:ext cx="2573401" cy="4397174"/>
          </a:xfrm>
          <a:prstGeom prst="rect">
            <a:avLst/>
          </a:prstGeom>
          <a:noFill/>
          <a:ln>
            <a:noFill/>
          </a:ln>
        </p:spPr>
      </p:pic>
      <p:sp>
        <p:nvSpPr>
          <p:cNvPr id="186" name="Google Shape;186;p23"/>
          <p:cNvSpPr txBox="1">
            <a:spLocks noGrp="1"/>
          </p:cNvSpPr>
          <p:nvPr>
            <p:ph type="title"/>
          </p:nvPr>
        </p:nvSpPr>
        <p:spPr>
          <a:xfrm>
            <a:off x="257705" y="305848"/>
            <a:ext cx="7044600" cy="1190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sz="3600" b="1">
                <a:solidFill>
                  <a:srgbClr val="FF9900"/>
                </a:solidFill>
              </a:rPr>
              <a:t>De groep</a:t>
            </a:r>
            <a:endParaRPr sz="3600" b="1">
              <a:solidFill>
                <a:srgbClr val="FF9900"/>
              </a:solidFill>
            </a:endParaRPr>
          </a:p>
        </p:txBody>
      </p:sp>
      <p:sp>
        <p:nvSpPr>
          <p:cNvPr id="187" name="Google Shape;187;p23"/>
          <p:cNvSpPr txBox="1">
            <a:spLocks noGrp="1"/>
          </p:cNvSpPr>
          <p:nvPr>
            <p:ph type="body" idx="1"/>
          </p:nvPr>
        </p:nvSpPr>
        <p:spPr>
          <a:xfrm>
            <a:off x="3797575" y="6662631"/>
            <a:ext cx="2788500" cy="277740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None/>
            </a:pPr>
            <a:r>
              <a:rPr lang="nl"/>
              <a:t>Plaats de blokken van de basis vijand in Groep-2 en voeg het stukje hier links aangegeven toe. </a:t>
            </a:r>
            <a:endParaRPr/>
          </a:p>
        </p:txBody>
      </p:sp>
      <p:sp>
        <p:nvSpPr>
          <p:cNvPr id="188" name="Google Shape;188;p23"/>
          <p:cNvSpPr txBox="1"/>
          <p:nvPr/>
        </p:nvSpPr>
        <p:spPr>
          <a:xfrm>
            <a:off x="324988" y="2618800"/>
            <a:ext cx="3000000" cy="2315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nl" sz="2400" b="1">
                <a:solidFill>
                  <a:srgbClr val="FF9900"/>
                </a:solidFill>
              </a:rPr>
              <a:t>Hoe maak je het?</a:t>
            </a:r>
            <a:endParaRPr sz="2400" b="1">
              <a:solidFill>
                <a:srgbClr val="FF9900"/>
              </a:solidFill>
            </a:endParaRPr>
          </a:p>
          <a:p>
            <a:pPr marL="0" lvl="0" indent="0" algn="l" rtl="0">
              <a:lnSpc>
                <a:spcPct val="115000"/>
              </a:lnSpc>
              <a:spcBef>
                <a:spcPts val="1200"/>
              </a:spcBef>
              <a:spcAft>
                <a:spcPts val="1200"/>
              </a:spcAft>
              <a:buNone/>
            </a:pPr>
            <a:r>
              <a:rPr lang="nl" sz="1800">
                <a:solidFill>
                  <a:schemeClr val="dk2"/>
                </a:solidFill>
              </a:rPr>
              <a:t>Pas de blokken van de basis vijand aan in Groep-1 en voeg het stukje hier rechts zoals aangegeven aan.</a:t>
            </a:r>
            <a:endParaRPr/>
          </a:p>
        </p:txBody>
      </p:sp>
      <p:pic>
        <p:nvPicPr>
          <p:cNvPr id="189" name="Google Shape;189;p23"/>
          <p:cNvPicPr preferRelativeResize="0"/>
          <p:nvPr/>
        </p:nvPicPr>
        <p:blipFill>
          <a:blip r:embed="rId4">
            <a:alphaModFix/>
          </a:blip>
          <a:stretch>
            <a:fillRect/>
          </a:stretch>
        </p:blipFill>
        <p:spPr>
          <a:xfrm>
            <a:off x="152400" y="5563045"/>
            <a:ext cx="3000000" cy="4976555"/>
          </a:xfrm>
          <a:prstGeom prst="rect">
            <a:avLst/>
          </a:prstGeom>
          <a:noFill/>
          <a:ln>
            <a:noFill/>
          </a:ln>
        </p:spPr>
      </p:pic>
      <p:sp>
        <p:nvSpPr>
          <p:cNvPr id="190" name="Google Shape;190;p23"/>
          <p:cNvSpPr txBox="1"/>
          <p:nvPr/>
        </p:nvSpPr>
        <p:spPr>
          <a:xfrm>
            <a:off x="3020713" y="8082500"/>
            <a:ext cx="4342200" cy="221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2400" b="1">
                <a:solidFill>
                  <a:srgbClr val="FF9900"/>
                </a:solidFill>
              </a:rPr>
              <a:t>Hoe werkt het?</a:t>
            </a:r>
            <a:endParaRPr sz="2400" b="1">
              <a:solidFill>
                <a:srgbClr val="FF9900"/>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nl" sz="1800">
                <a:solidFill>
                  <a:schemeClr val="dk2"/>
                </a:solidFill>
              </a:rPr>
              <a:t>Elke keer als de Groep verschijnt, maakt de hoofdvijand vier clones. Elke clone die verschijnt gaat naar de hoofdvijand toe en verplaatst zich een klein beetje om een groep te vormen.</a:t>
            </a:r>
            <a:endParaRPr sz="1800">
              <a:solidFill>
                <a:schemeClr val="dk2"/>
              </a:solidFill>
            </a:endParaRPr>
          </a:p>
        </p:txBody>
      </p:sp>
      <p:sp>
        <p:nvSpPr>
          <p:cNvPr id="191" name="Google Shape;191;p23"/>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11</a:t>
            </a:fld>
            <a:endParaRPr/>
          </a:p>
        </p:txBody>
      </p:sp>
      <p:sp>
        <p:nvSpPr>
          <p:cNvPr id="192" name="Google Shape;192;p23"/>
          <p:cNvSpPr/>
          <p:nvPr/>
        </p:nvSpPr>
        <p:spPr>
          <a:xfrm>
            <a:off x="138600" y="6279174"/>
            <a:ext cx="2730300" cy="8709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3" name="Google Shape;193;p23"/>
          <p:cNvSpPr txBox="1"/>
          <p:nvPr/>
        </p:nvSpPr>
        <p:spPr>
          <a:xfrm>
            <a:off x="251850" y="1032088"/>
            <a:ext cx="70563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1800">
                <a:solidFill>
                  <a:schemeClr val="dk2"/>
                </a:solidFill>
              </a:rPr>
              <a:t>De groep zijn meerdere vijanden in één. Het is best een hele grote uitdaging om te maken. Maar geeft je spel echt iets bijzonders.</a:t>
            </a:r>
            <a:endParaRPr sz="1800">
              <a:solidFill>
                <a:schemeClr val="dk2"/>
              </a:solidFill>
            </a:endParaRPr>
          </a:p>
          <a:p>
            <a:pPr marL="0" lvl="0" indent="0" algn="l" rtl="0">
              <a:spcBef>
                <a:spcPts val="0"/>
              </a:spcBef>
              <a:spcAft>
                <a:spcPts val="0"/>
              </a:spcAft>
              <a:buNone/>
            </a:pP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Verander het uiterlijk van de Groep</a:t>
            </a:r>
            <a:endParaRPr sz="1800">
              <a:solidFill>
                <a:schemeClr val="dk2"/>
              </a:solidFill>
            </a:endParaRPr>
          </a:p>
        </p:txBody>
      </p:sp>
      <p:pic>
        <p:nvPicPr>
          <p:cNvPr id="194" name="Google Shape;194;p23" title="Schermafbeelding 2026-02-05 110506.png"/>
          <p:cNvPicPr preferRelativeResize="0"/>
          <p:nvPr/>
        </p:nvPicPr>
        <p:blipFill>
          <a:blip r:embed="rId5">
            <a:alphaModFix/>
          </a:blip>
          <a:stretch>
            <a:fillRect/>
          </a:stretch>
        </p:blipFill>
        <p:spPr>
          <a:xfrm>
            <a:off x="4473144" y="1897884"/>
            <a:ext cx="2829150" cy="338400"/>
          </a:xfrm>
          <a:prstGeom prst="rect">
            <a:avLst/>
          </a:prstGeom>
          <a:noFill/>
          <a:ln>
            <a:noFill/>
          </a:ln>
        </p:spPr>
      </p:pic>
      <p:sp>
        <p:nvSpPr>
          <p:cNvPr id="195" name="Google Shape;195;p23"/>
          <p:cNvSpPr/>
          <p:nvPr/>
        </p:nvSpPr>
        <p:spPr>
          <a:xfrm>
            <a:off x="5803452" y="256135"/>
            <a:ext cx="427500" cy="427500"/>
          </a:xfrm>
          <a:prstGeom prst="ellipse">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FF00"/>
              </a:solidFill>
              <a:highlight>
                <a:srgbClr val="00FF00"/>
              </a:highlight>
            </a:endParaRPr>
          </a:p>
        </p:txBody>
      </p:sp>
      <p:pic>
        <p:nvPicPr>
          <p:cNvPr id="196" name="Google Shape;196;p23"/>
          <p:cNvPicPr preferRelativeResize="0"/>
          <p:nvPr/>
        </p:nvPicPr>
        <p:blipFill rotWithShape="1">
          <a:blip r:embed="rId3">
            <a:alphaModFix/>
          </a:blip>
          <a:srcRect l="65244" b="78007"/>
          <a:stretch/>
        </p:blipFill>
        <p:spPr>
          <a:xfrm>
            <a:off x="5101353" y="3450523"/>
            <a:ext cx="2357050" cy="176875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4"/>
          <p:cNvSpPr txBox="1">
            <a:spLocks noGrp="1"/>
          </p:cNvSpPr>
          <p:nvPr>
            <p:ph type="title"/>
          </p:nvPr>
        </p:nvSpPr>
        <p:spPr>
          <a:xfrm>
            <a:off x="257705" y="290091"/>
            <a:ext cx="7044600" cy="1190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sz="3600" b="1">
                <a:solidFill>
                  <a:schemeClr val="accent4"/>
                </a:solidFill>
              </a:rPr>
              <a:t>De Opsplitser</a:t>
            </a:r>
            <a:endParaRPr sz="3600" b="1">
              <a:solidFill>
                <a:schemeClr val="accent4"/>
              </a:solidFill>
            </a:endParaRPr>
          </a:p>
        </p:txBody>
      </p:sp>
      <p:sp>
        <p:nvSpPr>
          <p:cNvPr id="202" name="Google Shape;202;p24"/>
          <p:cNvSpPr txBox="1">
            <a:spLocks noGrp="1"/>
          </p:cNvSpPr>
          <p:nvPr>
            <p:ph type="body" idx="1"/>
          </p:nvPr>
        </p:nvSpPr>
        <p:spPr>
          <a:xfrm>
            <a:off x="81650" y="1023375"/>
            <a:ext cx="3440700" cy="22332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nl"/>
              <a:t>De vijand gaat zichzelf opsplitsen in tweeën. Je doet dit door drie sprites te maken zoals bijvoorbeeld rechts. De opsplitser is de moeilijkste vijand om te maken, maar ook de leukste in het spel</a:t>
            </a:r>
            <a:endParaRPr/>
          </a:p>
        </p:txBody>
      </p:sp>
      <p:sp>
        <p:nvSpPr>
          <p:cNvPr id="203" name="Google Shape;203;p24"/>
          <p:cNvSpPr txBox="1"/>
          <p:nvPr/>
        </p:nvSpPr>
        <p:spPr>
          <a:xfrm>
            <a:off x="83425" y="3382738"/>
            <a:ext cx="7044600" cy="84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nl" sz="1800">
                <a:solidFill>
                  <a:schemeClr val="dk2"/>
                </a:solidFill>
              </a:rPr>
              <a:t>Opsplitser 1 is de basis vijand. En Opsplitser 2 en Opsplitser 3 zijn de opgesplitste.</a:t>
            </a:r>
            <a:endParaRPr sz="1800">
              <a:solidFill>
                <a:schemeClr val="dk2"/>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204" name="Google Shape;204;p24"/>
          <p:cNvSpPr txBox="1"/>
          <p:nvPr/>
        </p:nvSpPr>
        <p:spPr>
          <a:xfrm>
            <a:off x="292175" y="4224238"/>
            <a:ext cx="3592200" cy="429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nl" sz="2400" b="1">
                <a:solidFill>
                  <a:schemeClr val="accent4"/>
                </a:solidFill>
              </a:rPr>
              <a:t>Stappenplan:</a:t>
            </a:r>
            <a:endParaRPr sz="2400" b="1">
              <a:solidFill>
                <a:schemeClr val="accent4"/>
              </a:solidFill>
            </a:endParaRPr>
          </a:p>
          <a:p>
            <a:pPr marL="457200" lvl="0" indent="-342900" algn="l" rtl="0">
              <a:spcBef>
                <a:spcPts val="0"/>
              </a:spcBef>
              <a:spcAft>
                <a:spcPts val="0"/>
              </a:spcAft>
              <a:buClr>
                <a:schemeClr val="dk2"/>
              </a:buClr>
              <a:buSzPts val="1800"/>
              <a:buChar char="-"/>
            </a:pPr>
            <a:r>
              <a:rPr lang="nl" sz="1800">
                <a:solidFill>
                  <a:schemeClr val="dk2"/>
                </a:solidFill>
              </a:rPr>
              <a:t>Gebruik de code van de basis vijand</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verwijder het stuk dat hij zichzelf kloont</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Maak de code rechts na(zie pijltjes voor veranderingen</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Je gaat nu de opsplitsingen maken dus ga naar Opsplitser-1</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zie volgende blz voor uitleg kloon.</a:t>
            </a:r>
            <a:endParaRPr sz="1800">
              <a:solidFill>
                <a:schemeClr val="dk2"/>
              </a:solidFill>
            </a:endParaRPr>
          </a:p>
        </p:txBody>
      </p:sp>
      <p:pic>
        <p:nvPicPr>
          <p:cNvPr id="205" name="Google Shape;205;p24" title="Screenshot 2026-01-30 11.27.53.png"/>
          <p:cNvPicPr preferRelativeResize="0"/>
          <p:nvPr/>
        </p:nvPicPr>
        <p:blipFill>
          <a:blip r:embed="rId3">
            <a:alphaModFix/>
          </a:blip>
          <a:stretch>
            <a:fillRect/>
          </a:stretch>
        </p:blipFill>
        <p:spPr>
          <a:xfrm>
            <a:off x="3522200" y="920825"/>
            <a:ext cx="3936208" cy="1190400"/>
          </a:xfrm>
          <a:prstGeom prst="rect">
            <a:avLst/>
          </a:prstGeom>
          <a:noFill/>
          <a:ln>
            <a:noFill/>
          </a:ln>
        </p:spPr>
      </p:pic>
      <p:cxnSp>
        <p:nvCxnSpPr>
          <p:cNvPr id="206" name="Google Shape;206;p24"/>
          <p:cNvCxnSpPr/>
          <p:nvPr/>
        </p:nvCxnSpPr>
        <p:spPr>
          <a:xfrm>
            <a:off x="3239980" y="7438988"/>
            <a:ext cx="1109100" cy="234900"/>
          </a:xfrm>
          <a:prstGeom prst="straightConnector1">
            <a:avLst/>
          </a:prstGeom>
          <a:noFill/>
          <a:ln w="38100" cap="flat" cmpd="sng">
            <a:solidFill>
              <a:schemeClr val="dk2"/>
            </a:solidFill>
            <a:prstDash val="solid"/>
            <a:round/>
            <a:headEnd type="none" w="med" len="med"/>
            <a:tailEnd type="triangle" w="med" len="med"/>
          </a:ln>
        </p:spPr>
      </p:cxnSp>
      <p:cxnSp>
        <p:nvCxnSpPr>
          <p:cNvPr id="207" name="Google Shape;207;p24"/>
          <p:cNvCxnSpPr/>
          <p:nvPr/>
        </p:nvCxnSpPr>
        <p:spPr>
          <a:xfrm>
            <a:off x="3283434" y="9146095"/>
            <a:ext cx="1109100" cy="234900"/>
          </a:xfrm>
          <a:prstGeom prst="straightConnector1">
            <a:avLst/>
          </a:prstGeom>
          <a:noFill/>
          <a:ln w="38100" cap="flat" cmpd="sng">
            <a:solidFill>
              <a:schemeClr val="dk2"/>
            </a:solidFill>
            <a:prstDash val="solid"/>
            <a:round/>
            <a:headEnd type="none" w="med" len="med"/>
            <a:tailEnd type="triangle" w="med" len="med"/>
          </a:ln>
        </p:spPr>
      </p:cxnSp>
      <p:sp>
        <p:nvSpPr>
          <p:cNvPr id="208" name="Google Shape;208;p24"/>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12</a:t>
            </a:fld>
            <a:endParaRPr/>
          </a:p>
        </p:txBody>
      </p:sp>
      <p:sp>
        <p:nvSpPr>
          <p:cNvPr id="209" name="Google Shape;209;p24"/>
          <p:cNvSpPr/>
          <p:nvPr/>
        </p:nvSpPr>
        <p:spPr>
          <a:xfrm>
            <a:off x="5803452" y="256135"/>
            <a:ext cx="427500" cy="427500"/>
          </a:xfrm>
          <a:prstGeom prst="ellipse">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FF00"/>
              </a:solidFill>
              <a:highlight>
                <a:srgbClr val="00FF00"/>
              </a:highlight>
            </a:endParaRPr>
          </a:p>
        </p:txBody>
      </p:sp>
      <p:pic>
        <p:nvPicPr>
          <p:cNvPr id="210" name="Google Shape;210;p24"/>
          <p:cNvPicPr preferRelativeResize="0"/>
          <p:nvPr/>
        </p:nvPicPr>
        <p:blipFill>
          <a:blip r:embed="rId4">
            <a:alphaModFix/>
          </a:blip>
          <a:stretch>
            <a:fillRect/>
          </a:stretch>
        </p:blipFill>
        <p:spPr>
          <a:xfrm>
            <a:off x="473266" y="8348325"/>
            <a:ext cx="2657450" cy="1345310"/>
          </a:xfrm>
          <a:prstGeom prst="rect">
            <a:avLst/>
          </a:prstGeom>
          <a:noFill/>
          <a:ln>
            <a:noFill/>
          </a:ln>
        </p:spPr>
      </p:pic>
      <p:pic>
        <p:nvPicPr>
          <p:cNvPr id="211" name="Google Shape;211;p24"/>
          <p:cNvPicPr preferRelativeResize="0"/>
          <p:nvPr/>
        </p:nvPicPr>
        <p:blipFill>
          <a:blip r:embed="rId5">
            <a:alphaModFix/>
          </a:blip>
          <a:stretch>
            <a:fillRect/>
          </a:stretch>
        </p:blipFill>
        <p:spPr>
          <a:xfrm>
            <a:off x="4343186" y="4680627"/>
            <a:ext cx="2891604" cy="5164238"/>
          </a:xfrm>
          <a:prstGeom prst="rect">
            <a:avLst/>
          </a:prstGeom>
          <a:noFill/>
          <a:ln>
            <a:noFill/>
          </a:ln>
        </p:spPr>
      </p:pic>
      <p:cxnSp>
        <p:nvCxnSpPr>
          <p:cNvPr id="212" name="Google Shape;212;p24"/>
          <p:cNvCxnSpPr/>
          <p:nvPr/>
        </p:nvCxnSpPr>
        <p:spPr>
          <a:xfrm>
            <a:off x="3446098" y="4828025"/>
            <a:ext cx="928800" cy="6450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5"/>
          <p:cNvSpPr txBox="1">
            <a:spLocks noGrp="1"/>
          </p:cNvSpPr>
          <p:nvPr>
            <p:ph type="title"/>
          </p:nvPr>
        </p:nvSpPr>
        <p:spPr>
          <a:xfrm>
            <a:off x="284885" y="372027"/>
            <a:ext cx="7044600" cy="1190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sz="3600" b="1">
                <a:solidFill>
                  <a:schemeClr val="accent4"/>
                </a:solidFill>
              </a:rPr>
              <a:t>Kloons van de Opsplitser</a:t>
            </a:r>
            <a:endParaRPr sz="3600" b="1">
              <a:solidFill>
                <a:schemeClr val="accent4"/>
              </a:solidFill>
            </a:endParaRPr>
          </a:p>
        </p:txBody>
      </p:sp>
      <p:sp>
        <p:nvSpPr>
          <p:cNvPr id="218" name="Google Shape;218;p25"/>
          <p:cNvSpPr txBox="1">
            <a:spLocks noGrp="1"/>
          </p:cNvSpPr>
          <p:nvPr>
            <p:ph type="body" idx="1"/>
          </p:nvPr>
        </p:nvSpPr>
        <p:spPr>
          <a:xfrm>
            <a:off x="257700" y="1531300"/>
            <a:ext cx="5397600" cy="7966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a:t>Als je de opsplitser schiet komen er twee kloons uit</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
        <p:nvSpPr>
          <p:cNvPr id="219" name="Google Shape;219;p25"/>
          <p:cNvSpPr txBox="1"/>
          <p:nvPr/>
        </p:nvSpPr>
        <p:spPr>
          <a:xfrm>
            <a:off x="339475" y="2235900"/>
            <a:ext cx="3705600" cy="31707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r>
              <a:rPr lang="nl" sz="2400">
                <a:solidFill>
                  <a:schemeClr val="accent4"/>
                </a:solidFill>
              </a:rPr>
              <a:t>Hoe maak je dit?</a:t>
            </a:r>
            <a:endParaRPr sz="2400">
              <a:solidFill>
                <a:schemeClr val="accent4"/>
              </a:solidFill>
            </a:endParaRPr>
          </a:p>
          <a:p>
            <a:pPr marL="457200" lvl="0" indent="-342900" algn="l" rtl="0">
              <a:spcBef>
                <a:spcPts val="0"/>
              </a:spcBef>
              <a:spcAft>
                <a:spcPts val="0"/>
              </a:spcAft>
              <a:buClr>
                <a:schemeClr val="dk2"/>
              </a:buClr>
              <a:buSzPts val="1800"/>
              <a:buChar char="-"/>
            </a:pPr>
            <a:r>
              <a:rPr lang="nl" sz="1800">
                <a:solidFill>
                  <a:schemeClr val="dk2"/>
                </a:solidFill>
              </a:rPr>
              <a:t>De code rechts is de code voor de kloons</a:t>
            </a:r>
            <a:endParaRPr sz="1800">
              <a:solidFill>
                <a:schemeClr val="dk2"/>
              </a:solidFill>
            </a:endParaRPr>
          </a:p>
          <a:p>
            <a:pPr marL="457200" lvl="0" indent="-342900" algn="l" rtl="0">
              <a:spcBef>
                <a:spcPts val="0"/>
              </a:spcBef>
              <a:spcAft>
                <a:spcPts val="0"/>
              </a:spcAft>
              <a:buClr>
                <a:schemeClr val="dk2"/>
              </a:buClr>
              <a:buSzPts val="1800"/>
              <a:buChar char="-"/>
            </a:pPr>
            <a:r>
              <a:rPr lang="nl" sz="1800">
                <a:solidFill>
                  <a:schemeClr val="dk2"/>
                </a:solidFill>
              </a:rPr>
              <a:t>Voor verschillende kloons wil je dit veranderen. ( Anders zitten de kloons in elkaar)</a:t>
            </a:r>
            <a:endParaRPr sz="1800">
              <a:solidFill>
                <a:schemeClr val="dk2"/>
              </a:solidFill>
            </a:endParaRPr>
          </a:p>
          <a:p>
            <a:pPr marL="0" lvl="0" indent="0" algn="l" rtl="0">
              <a:spcBef>
                <a:spcPts val="0"/>
              </a:spcBef>
              <a:spcAft>
                <a:spcPts val="0"/>
              </a:spcAft>
              <a:buNone/>
            </a:pPr>
            <a:endParaRPr sz="1800">
              <a:solidFill>
                <a:schemeClr val="dk2"/>
              </a:solidFill>
            </a:endParaRPr>
          </a:p>
        </p:txBody>
      </p:sp>
      <p:sp>
        <p:nvSpPr>
          <p:cNvPr id="220" name="Google Shape;220;p25"/>
          <p:cNvSpPr txBox="1"/>
          <p:nvPr/>
        </p:nvSpPr>
        <p:spPr>
          <a:xfrm>
            <a:off x="527010" y="4656694"/>
            <a:ext cx="3549000" cy="328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nl" sz="2400">
                <a:solidFill>
                  <a:schemeClr val="accent4"/>
                </a:solidFill>
              </a:rPr>
              <a:t>Wat gebeurt er?</a:t>
            </a:r>
            <a:endParaRPr sz="2400">
              <a:solidFill>
                <a:schemeClr val="accent4"/>
              </a:solidFill>
            </a:endParaRPr>
          </a:p>
          <a:p>
            <a:pPr marL="0" lvl="0" indent="0" algn="l" rtl="0">
              <a:spcBef>
                <a:spcPts val="0"/>
              </a:spcBef>
              <a:spcAft>
                <a:spcPts val="0"/>
              </a:spcAft>
              <a:buNone/>
            </a:pPr>
            <a:r>
              <a:rPr lang="nl" sz="1800">
                <a:solidFill>
                  <a:schemeClr val="dk2"/>
                </a:solidFill>
              </a:rPr>
              <a:t>In Opsplitser 1 heb je gemaakt dat wanneer de vijand wordt beschoten hij een signaal (broadcast) doorgeeft waardoor twee van dezelfde tevoorschijn komen. Je kunt deze kloons weer schieten voor extra punten. Waarna ze weer een signaal terugsturen en het proces weer opnieuw begint.</a:t>
            </a:r>
            <a:endParaRPr sz="1800">
              <a:solidFill>
                <a:schemeClr val="dk2"/>
              </a:solidFill>
            </a:endParaRPr>
          </a:p>
        </p:txBody>
      </p:sp>
      <p:sp>
        <p:nvSpPr>
          <p:cNvPr id="221" name="Google Shape;221;p25"/>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13</a:t>
            </a:fld>
            <a:endParaRPr/>
          </a:p>
        </p:txBody>
      </p:sp>
      <p:pic>
        <p:nvPicPr>
          <p:cNvPr id="222" name="Google Shape;222;p25" title="Schermafbeelding 2026-02-05 114439.png"/>
          <p:cNvPicPr preferRelativeResize="0"/>
          <p:nvPr/>
        </p:nvPicPr>
        <p:blipFill rotWithShape="1">
          <a:blip r:embed="rId3">
            <a:alphaModFix/>
          </a:blip>
          <a:srcRect l="4380" r="-4380"/>
          <a:stretch/>
        </p:blipFill>
        <p:spPr>
          <a:xfrm>
            <a:off x="601225" y="8278250"/>
            <a:ext cx="3705600" cy="1828969"/>
          </a:xfrm>
          <a:prstGeom prst="rect">
            <a:avLst/>
          </a:prstGeom>
          <a:noFill/>
          <a:ln>
            <a:noFill/>
          </a:ln>
        </p:spPr>
      </p:pic>
      <p:sp>
        <p:nvSpPr>
          <p:cNvPr id="223" name="Google Shape;223;p25"/>
          <p:cNvSpPr/>
          <p:nvPr/>
        </p:nvSpPr>
        <p:spPr>
          <a:xfrm>
            <a:off x="5803452" y="256135"/>
            <a:ext cx="427500" cy="427500"/>
          </a:xfrm>
          <a:prstGeom prst="ellipse">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FF00"/>
              </a:solidFill>
              <a:highlight>
                <a:srgbClr val="00FF00"/>
              </a:highlight>
            </a:endParaRPr>
          </a:p>
        </p:txBody>
      </p:sp>
      <p:pic>
        <p:nvPicPr>
          <p:cNvPr id="224" name="Google Shape;224;p25"/>
          <p:cNvPicPr preferRelativeResize="0"/>
          <p:nvPr/>
        </p:nvPicPr>
        <p:blipFill>
          <a:blip r:embed="rId4">
            <a:alphaModFix/>
          </a:blip>
          <a:stretch>
            <a:fillRect/>
          </a:stretch>
        </p:blipFill>
        <p:spPr>
          <a:xfrm>
            <a:off x="4306825" y="2591700"/>
            <a:ext cx="2937875" cy="5353000"/>
          </a:xfrm>
          <a:prstGeom prst="rect">
            <a:avLst/>
          </a:prstGeom>
          <a:noFill/>
          <a:ln>
            <a:noFill/>
          </a:ln>
        </p:spPr>
      </p:pic>
      <p:cxnSp>
        <p:nvCxnSpPr>
          <p:cNvPr id="225" name="Google Shape;225;p25"/>
          <p:cNvCxnSpPr/>
          <p:nvPr/>
        </p:nvCxnSpPr>
        <p:spPr>
          <a:xfrm rot="10800000" flipH="1">
            <a:off x="3618196" y="3818283"/>
            <a:ext cx="756900" cy="52200"/>
          </a:xfrm>
          <a:prstGeom prst="straightConnector1">
            <a:avLst/>
          </a:prstGeom>
          <a:noFill/>
          <a:ln w="38100" cap="flat" cmpd="sng">
            <a:solidFill>
              <a:schemeClr val="dk2"/>
            </a:solidFill>
            <a:prstDash val="solid"/>
            <a:round/>
            <a:headEnd type="none" w="med" len="med"/>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6"/>
          <p:cNvSpPr txBox="1">
            <a:spLocks noGrp="1"/>
          </p:cNvSpPr>
          <p:nvPr>
            <p:ph type="title"/>
          </p:nvPr>
        </p:nvSpPr>
        <p:spPr>
          <a:xfrm>
            <a:off x="303793" y="239291"/>
            <a:ext cx="7044600" cy="1190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sz="3600" b="1">
                <a:solidFill>
                  <a:schemeClr val="accent4"/>
                </a:solidFill>
              </a:rPr>
              <a:t>Score</a:t>
            </a:r>
            <a:endParaRPr sz="3600" b="1">
              <a:solidFill>
                <a:schemeClr val="accent4"/>
              </a:solidFill>
            </a:endParaRPr>
          </a:p>
        </p:txBody>
      </p:sp>
      <p:pic>
        <p:nvPicPr>
          <p:cNvPr id="231" name="Google Shape;231;p26" title="Schermafbeelding 2026-02-05 115204.png"/>
          <p:cNvPicPr preferRelativeResize="0"/>
          <p:nvPr/>
        </p:nvPicPr>
        <p:blipFill>
          <a:blip r:embed="rId3">
            <a:alphaModFix/>
          </a:blip>
          <a:stretch>
            <a:fillRect/>
          </a:stretch>
        </p:blipFill>
        <p:spPr>
          <a:xfrm>
            <a:off x="190000" y="5877450"/>
            <a:ext cx="2866425" cy="4091452"/>
          </a:xfrm>
          <a:prstGeom prst="rect">
            <a:avLst/>
          </a:prstGeom>
          <a:noFill/>
          <a:ln>
            <a:noFill/>
          </a:ln>
        </p:spPr>
      </p:pic>
      <p:sp>
        <p:nvSpPr>
          <p:cNvPr id="232" name="Google Shape;232;p26"/>
          <p:cNvSpPr txBox="1">
            <a:spLocks noGrp="1"/>
          </p:cNvSpPr>
          <p:nvPr>
            <p:ph type="body" idx="1"/>
          </p:nvPr>
        </p:nvSpPr>
        <p:spPr>
          <a:xfrm>
            <a:off x="257700" y="947897"/>
            <a:ext cx="7044600" cy="1190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nl"/>
              <a:t>Met dit systeem kan je je spel nog leuker maken! Met een score-systeem kan je tegen je vrienden kijken wie beter is.</a:t>
            </a:r>
            <a:endParaRPr sz="2400">
              <a:solidFill>
                <a:schemeClr val="dk1"/>
              </a:solidFill>
            </a:endParaRPr>
          </a:p>
        </p:txBody>
      </p:sp>
      <p:sp>
        <p:nvSpPr>
          <p:cNvPr id="233" name="Google Shape;233;p26"/>
          <p:cNvSpPr txBox="1"/>
          <p:nvPr/>
        </p:nvSpPr>
        <p:spPr>
          <a:xfrm>
            <a:off x="257700" y="2073700"/>
            <a:ext cx="4120500" cy="342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nl" sz="2400">
                <a:solidFill>
                  <a:schemeClr val="dk1"/>
                </a:solidFill>
              </a:rPr>
              <a:t>Hoe maak je dit?</a:t>
            </a:r>
            <a:endParaRPr sz="24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nl" sz="1800">
                <a:solidFill>
                  <a:schemeClr val="dk2"/>
                </a:solidFill>
              </a:rPr>
              <a:t>Begin door een variabele aan te maken. Hier kan je getallen in opslaan, zoals je score. Dit is handig als je informatie wilt opslaan en gebruiken.</a:t>
            </a:r>
            <a:endParaRPr sz="1800">
              <a:solidFill>
                <a:schemeClr val="dk2"/>
              </a:solidFill>
            </a:endParaRPr>
          </a:p>
          <a:p>
            <a:pPr marL="0" lvl="0" indent="0" algn="l" rtl="0">
              <a:lnSpc>
                <a:spcPct val="115000"/>
              </a:lnSpc>
              <a:spcBef>
                <a:spcPts val="1200"/>
              </a:spcBef>
              <a:spcAft>
                <a:spcPts val="1200"/>
              </a:spcAft>
              <a:buClr>
                <a:schemeClr val="dk1"/>
              </a:buClr>
              <a:buSzPts val="1100"/>
              <a:buFont typeface="Arial"/>
              <a:buNone/>
            </a:pPr>
            <a:r>
              <a:rPr lang="nl" sz="1800">
                <a:solidFill>
                  <a:schemeClr val="dk2"/>
                </a:solidFill>
              </a:rPr>
              <a:t>Het is belangrijk dat je je variabel een passende naam geeft, dus noem het: “Score”</a:t>
            </a:r>
            <a:endParaRPr sz="1800">
              <a:solidFill>
                <a:schemeClr val="dk2"/>
              </a:solidFill>
            </a:endParaRPr>
          </a:p>
        </p:txBody>
      </p:sp>
      <p:pic>
        <p:nvPicPr>
          <p:cNvPr id="234" name="Google Shape;234;p26" title="Screenshot 2026-01-30 104501.png"/>
          <p:cNvPicPr preferRelativeResize="0"/>
          <p:nvPr/>
        </p:nvPicPr>
        <p:blipFill>
          <a:blip r:embed="rId4">
            <a:alphaModFix/>
          </a:blip>
          <a:stretch>
            <a:fillRect/>
          </a:stretch>
        </p:blipFill>
        <p:spPr>
          <a:xfrm>
            <a:off x="4443275" y="2017425"/>
            <a:ext cx="2325628" cy="3581319"/>
          </a:xfrm>
          <a:prstGeom prst="rect">
            <a:avLst/>
          </a:prstGeom>
          <a:noFill/>
          <a:ln>
            <a:noFill/>
          </a:ln>
        </p:spPr>
      </p:pic>
      <p:cxnSp>
        <p:nvCxnSpPr>
          <p:cNvPr id="235" name="Google Shape;235;p26"/>
          <p:cNvCxnSpPr/>
          <p:nvPr/>
        </p:nvCxnSpPr>
        <p:spPr>
          <a:xfrm rot="10800000">
            <a:off x="6312100" y="2679483"/>
            <a:ext cx="692700" cy="0"/>
          </a:xfrm>
          <a:prstGeom prst="straightConnector1">
            <a:avLst/>
          </a:prstGeom>
          <a:noFill/>
          <a:ln w="41700" cap="flat" cmpd="sng">
            <a:solidFill>
              <a:schemeClr val="dk2"/>
            </a:solidFill>
            <a:prstDash val="solid"/>
            <a:round/>
            <a:headEnd type="none" w="med" len="med"/>
            <a:tailEnd type="triangle" w="med" len="med"/>
          </a:ln>
        </p:spPr>
      </p:cxnSp>
      <p:sp>
        <p:nvSpPr>
          <p:cNvPr id="236" name="Google Shape;236;p26"/>
          <p:cNvSpPr txBox="1"/>
          <p:nvPr/>
        </p:nvSpPr>
        <p:spPr>
          <a:xfrm>
            <a:off x="3181800" y="5877450"/>
            <a:ext cx="4120500" cy="205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nl" sz="1800">
                <a:solidFill>
                  <a:schemeClr val="dk2"/>
                </a:solidFill>
              </a:rPr>
              <a:t>Voeg daarna dit stukje code toe aan </a:t>
            </a:r>
            <a:r>
              <a:rPr lang="nl" sz="1800" b="1">
                <a:solidFill>
                  <a:schemeClr val="dk2"/>
                </a:solidFill>
              </a:rPr>
              <a:t>alle</a:t>
            </a:r>
            <a:r>
              <a:rPr lang="nl" sz="1800">
                <a:solidFill>
                  <a:schemeClr val="dk2"/>
                </a:solidFill>
              </a:rPr>
              <a:t> vijanden zoals hier links aangegeven is. Tot slot moet je score altijd bij 0 beginnen als je het spel start, dus voeg dit blokje toe bij de speler zoals hieronder aangegeven is.</a:t>
            </a:r>
            <a:endParaRPr sz="1800">
              <a:solidFill>
                <a:schemeClr val="dk2"/>
              </a:solidFill>
            </a:endParaRPr>
          </a:p>
        </p:txBody>
      </p:sp>
      <p:sp>
        <p:nvSpPr>
          <p:cNvPr id="237" name="Google Shape;237;p26"/>
          <p:cNvSpPr/>
          <p:nvPr/>
        </p:nvSpPr>
        <p:spPr>
          <a:xfrm>
            <a:off x="365025" y="7343176"/>
            <a:ext cx="1588500" cy="902100"/>
          </a:xfrm>
          <a:prstGeom prst="rect">
            <a:avLst/>
          </a:prstGeom>
          <a:noFill/>
          <a:ln w="51400" cap="flat" cmpd="sng">
            <a:solidFill>
              <a:srgbClr val="FF0000"/>
            </a:solidFill>
            <a:prstDash val="solid"/>
            <a:round/>
            <a:headEnd type="none" w="sm" len="sm"/>
            <a:tailEnd type="none" w="sm" len="sm"/>
          </a:ln>
        </p:spPr>
        <p:txBody>
          <a:bodyPr spcFirstLastPara="1" wrap="square" lIns="123325" tIns="123325" rIns="123325" bIns="123325" anchor="ctr" anchorCtr="0">
            <a:noAutofit/>
          </a:bodyPr>
          <a:lstStyle/>
          <a:p>
            <a:pPr marL="0" lvl="0" indent="0" algn="ctr" rtl="0">
              <a:spcBef>
                <a:spcPts val="0"/>
              </a:spcBef>
              <a:spcAft>
                <a:spcPts val="0"/>
              </a:spcAft>
              <a:buNone/>
            </a:pPr>
            <a:endParaRPr sz="1888"/>
          </a:p>
        </p:txBody>
      </p:sp>
      <p:pic>
        <p:nvPicPr>
          <p:cNvPr id="238" name="Google Shape;238;p26" title="Screenshot 2026-01-30 105018.png"/>
          <p:cNvPicPr preferRelativeResize="0"/>
          <p:nvPr/>
        </p:nvPicPr>
        <p:blipFill>
          <a:blip r:embed="rId5">
            <a:alphaModFix/>
          </a:blip>
          <a:stretch>
            <a:fillRect/>
          </a:stretch>
        </p:blipFill>
        <p:spPr>
          <a:xfrm>
            <a:off x="3907775" y="8100525"/>
            <a:ext cx="2124950" cy="2032050"/>
          </a:xfrm>
          <a:prstGeom prst="rect">
            <a:avLst/>
          </a:prstGeom>
          <a:noFill/>
          <a:ln>
            <a:noFill/>
          </a:ln>
        </p:spPr>
      </p:pic>
      <p:cxnSp>
        <p:nvCxnSpPr>
          <p:cNvPr id="239" name="Google Shape;239;p26"/>
          <p:cNvCxnSpPr/>
          <p:nvPr/>
        </p:nvCxnSpPr>
        <p:spPr>
          <a:xfrm>
            <a:off x="3056415" y="8522082"/>
            <a:ext cx="924600" cy="0"/>
          </a:xfrm>
          <a:prstGeom prst="straightConnector1">
            <a:avLst/>
          </a:prstGeom>
          <a:noFill/>
          <a:ln w="38100" cap="flat" cmpd="sng">
            <a:solidFill>
              <a:schemeClr val="dk2"/>
            </a:solidFill>
            <a:prstDash val="solid"/>
            <a:round/>
            <a:headEnd type="none" w="med" len="med"/>
            <a:tailEnd type="triangle" w="med" len="med"/>
          </a:ln>
        </p:spPr>
      </p:cxnSp>
      <p:sp>
        <p:nvSpPr>
          <p:cNvPr id="240" name="Google Shape;240;p26"/>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14</a:t>
            </a:fld>
            <a:endParaRPr/>
          </a:p>
        </p:txBody>
      </p:sp>
      <p:sp>
        <p:nvSpPr>
          <p:cNvPr id="241" name="Google Shape;241;p26"/>
          <p:cNvSpPr/>
          <p:nvPr/>
        </p:nvSpPr>
        <p:spPr>
          <a:xfrm>
            <a:off x="5803452" y="256135"/>
            <a:ext cx="427500" cy="427500"/>
          </a:xfrm>
          <a:prstGeom prst="ellipse">
            <a:avLst/>
          </a:prstGeom>
          <a:solidFill>
            <a:srgbClr val="FFFF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FF00"/>
              </a:solidFill>
              <a:highlight>
                <a:srgbClr val="00FF00"/>
              </a:high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p27" title="Schermafbeelding 2026-02-05 115812.png"/>
          <p:cNvPicPr preferRelativeResize="0"/>
          <p:nvPr/>
        </p:nvPicPr>
        <p:blipFill>
          <a:blip r:embed="rId3">
            <a:alphaModFix/>
          </a:blip>
          <a:stretch>
            <a:fillRect/>
          </a:stretch>
        </p:blipFill>
        <p:spPr>
          <a:xfrm>
            <a:off x="2013600" y="5120125"/>
            <a:ext cx="4597649" cy="2036500"/>
          </a:xfrm>
          <a:prstGeom prst="rect">
            <a:avLst/>
          </a:prstGeom>
          <a:noFill/>
          <a:ln>
            <a:noFill/>
          </a:ln>
        </p:spPr>
      </p:pic>
      <p:sp>
        <p:nvSpPr>
          <p:cNvPr id="247" name="Google Shape;247;p27"/>
          <p:cNvSpPr txBox="1">
            <a:spLocks noGrp="1"/>
          </p:cNvSpPr>
          <p:nvPr>
            <p:ph type="title"/>
          </p:nvPr>
        </p:nvSpPr>
        <p:spPr>
          <a:xfrm>
            <a:off x="257705" y="239291"/>
            <a:ext cx="7044600" cy="1190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sz="3600" b="1">
                <a:solidFill>
                  <a:schemeClr val="accent4"/>
                </a:solidFill>
              </a:rPr>
              <a:t>Oplopende Moeilijkheid</a:t>
            </a:r>
            <a:endParaRPr sz="3600" b="1">
              <a:solidFill>
                <a:schemeClr val="accent4"/>
              </a:solidFill>
            </a:endParaRPr>
          </a:p>
        </p:txBody>
      </p:sp>
      <p:pic>
        <p:nvPicPr>
          <p:cNvPr id="248" name="Google Shape;248;p27" title="Screenshot 2026-01-30 104501.png"/>
          <p:cNvPicPr preferRelativeResize="0"/>
          <p:nvPr/>
        </p:nvPicPr>
        <p:blipFill>
          <a:blip r:embed="rId4">
            <a:alphaModFix/>
          </a:blip>
          <a:stretch>
            <a:fillRect/>
          </a:stretch>
        </p:blipFill>
        <p:spPr>
          <a:xfrm>
            <a:off x="5209378" y="1093267"/>
            <a:ext cx="1497700" cy="2306375"/>
          </a:xfrm>
          <a:prstGeom prst="rect">
            <a:avLst/>
          </a:prstGeom>
          <a:noFill/>
          <a:ln>
            <a:noFill/>
          </a:ln>
        </p:spPr>
      </p:pic>
      <p:sp>
        <p:nvSpPr>
          <p:cNvPr id="249" name="Google Shape;249;p27"/>
          <p:cNvSpPr txBox="1">
            <a:spLocks noGrp="1"/>
          </p:cNvSpPr>
          <p:nvPr>
            <p:ph type="body" idx="1"/>
          </p:nvPr>
        </p:nvSpPr>
        <p:spPr>
          <a:xfrm>
            <a:off x="257702" y="1176500"/>
            <a:ext cx="4628700" cy="7101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sz="2400">
                <a:solidFill>
                  <a:schemeClr val="accent4"/>
                </a:solidFill>
              </a:rPr>
              <a:t>Hoe maak je dit?</a:t>
            </a:r>
            <a:endParaRPr sz="2400">
              <a:solidFill>
                <a:schemeClr val="accent4"/>
              </a:solidFill>
            </a:endParaRPr>
          </a:p>
          <a:p>
            <a:pPr marL="0" lvl="0" indent="0" algn="l" rtl="0">
              <a:spcBef>
                <a:spcPts val="1200"/>
              </a:spcBef>
              <a:spcAft>
                <a:spcPts val="0"/>
              </a:spcAft>
              <a:buNone/>
            </a:pPr>
            <a:r>
              <a:rPr lang="nl"/>
              <a:t>Maak eerst een nieuw Variabele aan, noem deze: “Moeilijkheid”</a:t>
            </a:r>
            <a:endParaRPr/>
          </a:p>
          <a:p>
            <a:pPr marL="0" lvl="0" indent="0" algn="l" rtl="0">
              <a:spcBef>
                <a:spcPts val="1200"/>
              </a:spcBef>
              <a:spcAft>
                <a:spcPts val="1200"/>
              </a:spcAft>
              <a:buNone/>
            </a:pPr>
            <a:r>
              <a:rPr lang="nl"/>
              <a:t>Ga vervolgens naar de achtergrond en plak de code hieronder erin.</a:t>
            </a:r>
            <a:endParaRPr/>
          </a:p>
        </p:txBody>
      </p:sp>
      <p:pic>
        <p:nvPicPr>
          <p:cNvPr id="250" name="Google Shape;250;p27" title="Schermafbeelding 2026-01-30 114609.png"/>
          <p:cNvPicPr preferRelativeResize="0"/>
          <p:nvPr/>
        </p:nvPicPr>
        <p:blipFill>
          <a:blip r:embed="rId5">
            <a:alphaModFix/>
          </a:blip>
          <a:stretch>
            <a:fillRect/>
          </a:stretch>
        </p:blipFill>
        <p:spPr>
          <a:xfrm>
            <a:off x="376850" y="3209225"/>
            <a:ext cx="3274400" cy="2036500"/>
          </a:xfrm>
          <a:prstGeom prst="rect">
            <a:avLst/>
          </a:prstGeom>
          <a:noFill/>
          <a:ln>
            <a:noFill/>
          </a:ln>
        </p:spPr>
      </p:pic>
      <p:sp>
        <p:nvSpPr>
          <p:cNvPr id="251" name="Google Shape;251;p27"/>
          <p:cNvSpPr txBox="1"/>
          <p:nvPr/>
        </p:nvSpPr>
        <p:spPr>
          <a:xfrm>
            <a:off x="3934025" y="3745500"/>
            <a:ext cx="3641400" cy="1293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1800">
                <a:solidFill>
                  <a:schemeClr val="dk2"/>
                </a:solidFill>
              </a:rPr>
              <a:t>Ga nu naar alle vijanden, en verander de code die zorgt dat ze een kloon van zichzelf op de manier hieronder weergegeven.</a:t>
            </a:r>
            <a:endParaRPr sz="1800">
              <a:solidFill>
                <a:schemeClr val="dk2"/>
              </a:solidFill>
            </a:endParaRPr>
          </a:p>
        </p:txBody>
      </p:sp>
      <p:cxnSp>
        <p:nvCxnSpPr>
          <p:cNvPr id="252" name="Google Shape;252;p27"/>
          <p:cNvCxnSpPr/>
          <p:nvPr/>
        </p:nvCxnSpPr>
        <p:spPr>
          <a:xfrm>
            <a:off x="2882943" y="6186301"/>
            <a:ext cx="709800" cy="0"/>
          </a:xfrm>
          <a:prstGeom prst="straightConnector1">
            <a:avLst/>
          </a:prstGeom>
          <a:noFill/>
          <a:ln w="38100" cap="flat" cmpd="sng">
            <a:solidFill>
              <a:schemeClr val="dk2"/>
            </a:solidFill>
            <a:prstDash val="solid"/>
            <a:round/>
            <a:headEnd type="none" w="med" len="med"/>
            <a:tailEnd type="triangle" w="med" len="med"/>
          </a:ln>
        </p:spPr>
      </p:cxnSp>
      <p:sp>
        <p:nvSpPr>
          <p:cNvPr id="253" name="Google Shape;253;p27"/>
          <p:cNvSpPr txBox="1"/>
          <p:nvPr/>
        </p:nvSpPr>
        <p:spPr>
          <a:xfrm>
            <a:off x="510975" y="7128069"/>
            <a:ext cx="7064400" cy="2493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2400">
                <a:solidFill>
                  <a:schemeClr val="accent4"/>
                </a:solidFill>
              </a:rPr>
              <a:t>Hoe werkt het?</a:t>
            </a:r>
            <a:endParaRPr sz="2400">
              <a:solidFill>
                <a:schemeClr val="accent4"/>
              </a:solidFill>
            </a:endParaRPr>
          </a:p>
          <a:p>
            <a:pPr marL="0" lvl="0" indent="0" algn="l" rtl="0">
              <a:spcBef>
                <a:spcPts val="0"/>
              </a:spcBef>
              <a:spcAft>
                <a:spcPts val="0"/>
              </a:spcAft>
              <a:buNone/>
            </a:pPr>
            <a:endParaRPr sz="1800">
              <a:solidFill>
                <a:schemeClr val="dk2"/>
              </a:solidFill>
            </a:endParaRPr>
          </a:p>
          <a:p>
            <a:pPr marL="0" lvl="0" indent="0" algn="l" rtl="0">
              <a:spcBef>
                <a:spcPts val="0"/>
              </a:spcBef>
              <a:spcAft>
                <a:spcPts val="0"/>
              </a:spcAft>
              <a:buNone/>
            </a:pPr>
            <a:r>
              <a:rPr lang="nl" sz="1800">
                <a:solidFill>
                  <a:schemeClr val="dk2"/>
                </a:solidFill>
              </a:rPr>
              <a:t>Vanaf het begin van het spel wordt de tijd dat de vijanden verschijnen steeds sneller. Want van 4 sec → 3 sec → 2,3 sec. </a:t>
            </a:r>
            <a:endParaRPr sz="1800">
              <a:solidFill>
                <a:schemeClr val="dk2"/>
              </a:solidFill>
            </a:endParaRPr>
          </a:p>
          <a:p>
            <a:pPr marL="0" lvl="0" indent="0" algn="l" rtl="0">
              <a:spcBef>
                <a:spcPts val="0"/>
              </a:spcBef>
              <a:spcAft>
                <a:spcPts val="0"/>
              </a:spcAft>
              <a:buNone/>
            </a:pPr>
            <a:r>
              <a:rPr lang="nl" sz="1800">
                <a:solidFill>
                  <a:schemeClr val="dk2"/>
                </a:solidFill>
              </a:rPr>
              <a:t>Bij de vijand zit ook een stukje willekeurigheid, dit is zodat niet alles precies tegelijkertijd verschijnt, maar dat het meer op een een-voor-een manier is.</a:t>
            </a:r>
            <a:endParaRPr sz="1800">
              <a:solidFill>
                <a:schemeClr val="dk2"/>
              </a:solidFill>
            </a:endParaRPr>
          </a:p>
          <a:p>
            <a:pPr marL="0" lvl="0" indent="0" algn="l" rtl="0">
              <a:spcBef>
                <a:spcPts val="0"/>
              </a:spcBef>
              <a:spcAft>
                <a:spcPts val="0"/>
              </a:spcAft>
              <a:buNone/>
            </a:pPr>
            <a:r>
              <a:rPr lang="nl" sz="1800">
                <a:solidFill>
                  <a:schemeClr val="dk2"/>
                </a:solidFill>
              </a:rPr>
              <a:t>Als je het makkelijker wilt maken moet je dit getal kleiner maken:</a:t>
            </a:r>
            <a:endParaRPr sz="1800">
              <a:solidFill>
                <a:schemeClr val="dk2"/>
              </a:solidFill>
            </a:endParaRPr>
          </a:p>
        </p:txBody>
      </p:sp>
      <p:pic>
        <p:nvPicPr>
          <p:cNvPr id="254" name="Google Shape;254;p27" title="Schermafbeelding 2026-01-30 114609.png"/>
          <p:cNvPicPr preferRelativeResize="0"/>
          <p:nvPr/>
        </p:nvPicPr>
        <p:blipFill rotWithShape="1">
          <a:blip r:embed="rId5">
            <a:alphaModFix/>
          </a:blip>
          <a:srcRect t="51459"/>
          <a:stretch/>
        </p:blipFill>
        <p:spPr>
          <a:xfrm>
            <a:off x="1687753" y="9698669"/>
            <a:ext cx="3390625" cy="1023625"/>
          </a:xfrm>
          <a:prstGeom prst="rect">
            <a:avLst/>
          </a:prstGeom>
          <a:noFill/>
          <a:ln>
            <a:noFill/>
          </a:ln>
        </p:spPr>
      </p:pic>
      <p:cxnSp>
        <p:nvCxnSpPr>
          <p:cNvPr id="255" name="Google Shape;255;p27"/>
          <p:cNvCxnSpPr/>
          <p:nvPr/>
        </p:nvCxnSpPr>
        <p:spPr>
          <a:xfrm flipH="1">
            <a:off x="4737850" y="9636558"/>
            <a:ext cx="759000" cy="438300"/>
          </a:xfrm>
          <a:prstGeom prst="straightConnector1">
            <a:avLst/>
          </a:prstGeom>
          <a:noFill/>
          <a:ln w="38100" cap="flat" cmpd="sng">
            <a:solidFill>
              <a:schemeClr val="dk2"/>
            </a:solidFill>
            <a:prstDash val="solid"/>
            <a:round/>
            <a:headEnd type="none" w="med" len="med"/>
            <a:tailEnd type="triangle" w="med" len="med"/>
          </a:ln>
        </p:spPr>
      </p:cxnSp>
      <p:sp>
        <p:nvSpPr>
          <p:cNvPr id="256" name="Google Shape;256;p27"/>
          <p:cNvSpPr txBox="1"/>
          <p:nvPr/>
        </p:nvSpPr>
        <p:spPr>
          <a:xfrm>
            <a:off x="8216225" y="5985050"/>
            <a:ext cx="758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endParaRPr sz="1800">
              <a:solidFill>
                <a:schemeClr val="dk2"/>
              </a:solidFill>
            </a:endParaRPr>
          </a:p>
        </p:txBody>
      </p:sp>
      <p:sp>
        <p:nvSpPr>
          <p:cNvPr id="257" name="Google Shape;257;p27"/>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15</a:t>
            </a:fld>
            <a:endParaRPr/>
          </a:p>
        </p:txBody>
      </p:sp>
      <p:sp>
        <p:nvSpPr>
          <p:cNvPr id="258" name="Google Shape;258;p27"/>
          <p:cNvSpPr/>
          <p:nvPr/>
        </p:nvSpPr>
        <p:spPr>
          <a:xfrm>
            <a:off x="5803452" y="256135"/>
            <a:ext cx="427500" cy="427500"/>
          </a:xfrm>
          <a:prstGeom prst="ellipse">
            <a:avLst/>
          </a:prstGeom>
          <a:solidFill>
            <a:srgbClr val="FFFF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FF00"/>
              </a:solidFill>
              <a:highlight>
                <a:srgbClr val="00FF00"/>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8"/>
          <p:cNvSpPr txBox="1">
            <a:spLocks noGrp="1"/>
          </p:cNvSpPr>
          <p:nvPr>
            <p:ph type="title"/>
          </p:nvPr>
        </p:nvSpPr>
        <p:spPr>
          <a:xfrm>
            <a:off x="257705" y="279633"/>
            <a:ext cx="7044600" cy="1190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nl" sz="3600" b="1">
                <a:solidFill>
                  <a:srgbClr val="FF9900"/>
                </a:solidFill>
              </a:rPr>
              <a:t>Grote/kleine kogel</a:t>
            </a:r>
            <a:endParaRPr sz="3600" b="1">
              <a:solidFill>
                <a:srgbClr val="FF9900"/>
              </a:solidFill>
            </a:endParaRPr>
          </a:p>
        </p:txBody>
      </p:sp>
      <p:sp>
        <p:nvSpPr>
          <p:cNvPr id="264" name="Google Shape;264;p28"/>
          <p:cNvSpPr txBox="1">
            <a:spLocks noGrp="1"/>
          </p:cNvSpPr>
          <p:nvPr>
            <p:ph type="body" idx="1"/>
          </p:nvPr>
        </p:nvSpPr>
        <p:spPr>
          <a:xfrm>
            <a:off x="257700" y="1024100"/>
            <a:ext cx="4353600" cy="14916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nl"/>
              <a:t>Begin door een variabel aan te maken, noem dit: “Kogel”</a:t>
            </a:r>
            <a:endParaRPr/>
          </a:p>
          <a:p>
            <a:pPr marL="0" lvl="0" indent="0" algn="l" rtl="0">
              <a:spcBef>
                <a:spcPts val="1200"/>
              </a:spcBef>
              <a:spcAft>
                <a:spcPts val="1200"/>
              </a:spcAft>
              <a:buNone/>
            </a:pPr>
            <a:r>
              <a:rPr lang="nl"/>
              <a:t>Ga daarna naar de kogel en verander dit stukje code door dit toe te voegen.</a:t>
            </a:r>
            <a:endParaRPr/>
          </a:p>
        </p:txBody>
      </p:sp>
      <p:pic>
        <p:nvPicPr>
          <p:cNvPr id="265" name="Google Shape;265;p28" title="Screenshot 2026-01-30 105627.png"/>
          <p:cNvPicPr preferRelativeResize="0"/>
          <p:nvPr/>
        </p:nvPicPr>
        <p:blipFill>
          <a:blip r:embed="rId3">
            <a:alphaModFix/>
          </a:blip>
          <a:stretch>
            <a:fillRect/>
          </a:stretch>
        </p:blipFill>
        <p:spPr>
          <a:xfrm>
            <a:off x="3653925" y="5443250"/>
            <a:ext cx="1678475" cy="1573146"/>
          </a:xfrm>
          <a:prstGeom prst="rect">
            <a:avLst/>
          </a:prstGeom>
          <a:noFill/>
          <a:ln>
            <a:noFill/>
          </a:ln>
        </p:spPr>
      </p:pic>
      <p:pic>
        <p:nvPicPr>
          <p:cNvPr id="266" name="Google Shape;266;p28" title="Screenshot 2026-01-30 105631.png"/>
          <p:cNvPicPr preferRelativeResize="0"/>
          <p:nvPr/>
        </p:nvPicPr>
        <p:blipFill>
          <a:blip r:embed="rId4">
            <a:alphaModFix/>
          </a:blip>
          <a:stretch>
            <a:fillRect/>
          </a:stretch>
        </p:blipFill>
        <p:spPr>
          <a:xfrm>
            <a:off x="5776300" y="5443250"/>
            <a:ext cx="1678475" cy="3739544"/>
          </a:xfrm>
          <a:prstGeom prst="rect">
            <a:avLst/>
          </a:prstGeom>
          <a:noFill/>
          <a:ln>
            <a:noFill/>
          </a:ln>
        </p:spPr>
      </p:pic>
      <p:pic>
        <p:nvPicPr>
          <p:cNvPr id="267" name="Google Shape;267;p28" title="Screenshot 2026-01-30 104501.png"/>
          <p:cNvPicPr preferRelativeResize="0"/>
          <p:nvPr/>
        </p:nvPicPr>
        <p:blipFill>
          <a:blip r:embed="rId5">
            <a:alphaModFix/>
          </a:blip>
          <a:stretch>
            <a:fillRect/>
          </a:stretch>
        </p:blipFill>
        <p:spPr>
          <a:xfrm>
            <a:off x="4768900" y="682850"/>
            <a:ext cx="1497700" cy="2306375"/>
          </a:xfrm>
          <a:prstGeom prst="rect">
            <a:avLst/>
          </a:prstGeom>
          <a:noFill/>
          <a:ln>
            <a:noFill/>
          </a:ln>
        </p:spPr>
      </p:pic>
      <p:pic>
        <p:nvPicPr>
          <p:cNvPr id="268" name="Google Shape;268;p28" title="Screenshot 2026-01-30 105755.png"/>
          <p:cNvPicPr preferRelativeResize="0"/>
          <p:nvPr/>
        </p:nvPicPr>
        <p:blipFill>
          <a:blip r:embed="rId6">
            <a:alphaModFix/>
          </a:blip>
          <a:stretch>
            <a:fillRect/>
          </a:stretch>
        </p:blipFill>
        <p:spPr>
          <a:xfrm>
            <a:off x="369450" y="5718275"/>
            <a:ext cx="1384275" cy="4760449"/>
          </a:xfrm>
          <a:prstGeom prst="rect">
            <a:avLst/>
          </a:prstGeom>
          <a:noFill/>
          <a:ln>
            <a:noFill/>
          </a:ln>
        </p:spPr>
      </p:pic>
      <p:pic>
        <p:nvPicPr>
          <p:cNvPr id="269" name="Google Shape;269;p28" title="Screenshot 2026-01-30 105801.png"/>
          <p:cNvPicPr preferRelativeResize="0"/>
          <p:nvPr/>
        </p:nvPicPr>
        <p:blipFill>
          <a:blip r:embed="rId7">
            <a:alphaModFix/>
          </a:blip>
          <a:stretch>
            <a:fillRect/>
          </a:stretch>
        </p:blipFill>
        <p:spPr>
          <a:xfrm>
            <a:off x="555125" y="2403368"/>
            <a:ext cx="2654899" cy="3395957"/>
          </a:xfrm>
          <a:prstGeom prst="rect">
            <a:avLst/>
          </a:prstGeom>
          <a:noFill/>
          <a:ln>
            <a:noFill/>
          </a:ln>
        </p:spPr>
      </p:pic>
      <p:sp>
        <p:nvSpPr>
          <p:cNvPr id="270" name="Google Shape;270;p28"/>
          <p:cNvSpPr/>
          <p:nvPr/>
        </p:nvSpPr>
        <p:spPr>
          <a:xfrm>
            <a:off x="1057352" y="4589701"/>
            <a:ext cx="1783200" cy="784200"/>
          </a:xfrm>
          <a:prstGeom prst="rect">
            <a:avLst/>
          </a:prstGeom>
          <a:noFill/>
          <a:ln w="42925" cap="flat" cmpd="sng">
            <a:solidFill>
              <a:srgbClr val="FF0000"/>
            </a:solidFill>
            <a:prstDash val="solid"/>
            <a:round/>
            <a:headEnd type="none" w="sm" len="sm"/>
            <a:tailEnd type="none" w="sm" len="sm"/>
          </a:ln>
        </p:spPr>
        <p:txBody>
          <a:bodyPr spcFirstLastPara="1" wrap="square" lIns="103000" tIns="103000" rIns="103000" bIns="103000" anchor="ctr" anchorCtr="0">
            <a:noAutofit/>
          </a:bodyPr>
          <a:lstStyle/>
          <a:p>
            <a:pPr marL="0" lvl="0" indent="0" algn="ctr" rtl="0">
              <a:spcBef>
                <a:spcPts val="0"/>
              </a:spcBef>
              <a:spcAft>
                <a:spcPts val="0"/>
              </a:spcAft>
              <a:buNone/>
            </a:pPr>
            <a:endParaRPr sz="1577"/>
          </a:p>
        </p:txBody>
      </p:sp>
      <p:cxnSp>
        <p:nvCxnSpPr>
          <p:cNvPr id="271" name="Google Shape;271;p28"/>
          <p:cNvCxnSpPr/>
          <p:nvPr/>
        </p:nvCxnSpPr>
        <p:spPr>
          <a:xfrm rot="10800000">
            <a:off x="2201750" y="3902447"/>
            <a:ext cx="616500" cy="0"/>
          </a:xfrm>
          <a:prstGeom prst="straightConnector1">
            <a:avLst/>
          </a:prstGeom>
          <a:noFill/>
          <a:ln w="38100" cap="flat" cmpd="sng">
            <a:solidFill>
              <a:schemeClr val="dk2"/>
            </a:solidFill>
            <a:prstDash val="solid"/>
            <a:round/>
            <a:headEnd type="none" w="med" len="med"/>
            <a:tailEnd type="triangle" w="med" len="med"/>
          </a:ln>
        </p:spPr>
      </p:cxnSp>
      <p:sp>
        <p:nvSpPr>
          <p:cNvPr id="272" name="Google Shape;272;p28"/>
          <p:cNvSpPr txBox="1"/>
          <p:nvPr/>
        </p:nvSpPr>
        <p:spPr>
          <a:xfrm>
            <a:off x="3733200" y="2989225"/>
            <a:ext cx="3569100" cy="184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1800">
                <a:solidFill>
                  <a:schemeClr val="dk2"/>
                </a:solidFill>
              </a:rPr>
              <a:t>Nu moeten we zorgen dat de geschoten kogel weet wat hij moet doen. Dus maak nu deze stukken code hieronder, je kan de oude code plakken en de velden anders invullen.</a:t>
            </a:r>
            <a:endParaRPr sz="1800">
              <a:solidFill>
                <a:schemeClr val="dk2"/>
              </a:solidFill>
            </a:endParaRPr>
          </a:p>
        </p:txBody>
      </p:sp>
      <p:sp>
        <p:nvSpPr>
          <p:cNvPr id="273" name="Google Shape;273;p28"/>
          <p:cNvSpPr txBox="1"/>
          <p:nvPr/>
        </p:nvSpPr>
        <p:spPr>
          <a:xfrm>
            <a:off x="2078650" y="7335700"/>
            <a:ext cx="35691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nl" sz="1800">
                <a:solidFill>
                  <a:schemeClr val="dk2"/>
                </a:solidFill>
              </a:rPr>
              <a:t>Om alles dan bij elkaar te plaatsen zou het er zo uit moeten zien als hier links.</a:t>
            </a:r>
            <a:endParaRPr sz="1800">
              <a:solidFill>
                <a:schemeClr val="dk2"/>
              </a:solidFill>
            </a:endParaRPr>
          </a:p>
        </p:txBody>
      </p:sp>
      <p:cxnSp>
        <p:nvCxnSpPr>
          <p:cNvPr id="274" name="Google Shape;274;p28"/>
          <p:cNvCxnSpPr>
            <a:stCxn id="272" idx="2"/>
            <a:endCxn id="265" idx="0"/>
          </p:cNvCxnSpPr>
          <p:nvPr/>
        </p:nvCxnSpPr>
        <p:spPr>
          <a:xfrm flipH="1">
            <a:off x="4493250" y="4836325"/>
            <a:ext cx="1024500" cy="606900"/>
          </a:xfrm>
          <a:prstGeom prst="straightConnector1">
            <a:avLst/>
          </a:prstGeom>
          <a:noFill/>
          <a:ln w="38100" cap="flat" cmpd="sng">
            <a:solidFill>
              <a:schemeClr val="dk2"/>
            </a:solidFill>
            <a:prstDash val="solid"/>
            <a:round/>
            <a:headEnd type="none" w="med" len="med"/>
            <a:tailEnd type="triangle" w="med" len="med"/>
          </a:ln>
        </p:spPr>
      </p:cxnSp>
      <p:cxnSp>
        <p:nvCxnSpPr>
          <p:cNvPr id="275" name="Google Shape;275;p28"/>
          <p:cNvCxnSpPr>
            <a:stCxn id="272" idx="2"/>
            <a:endCxn id="266" idx="0"/>
          </p:cNvCxnSpPr>
          <p:nvPr/>
        </p:nvCxnSpPr>
        <p:spPr>
          <a:xfrm>
            <a:off x="5517750" y="4836325"/>
            <a:ext cx="1097700" cy="606900"/>
          </a:xfrm>
          <a:prstGeom prst="straightConnector1">
            <a:avLst/>
          </a:prstGeom>
          <a:noFill/>
          <a:ln w="38100" cap="flat" cmpd="sng">
            <a:solidFill>
              <a:schemeClr val="dk2"/>
            </a:solidFill>
            <a:prstDash val="solid"/>
            <a:round/>
            <a:headEnd type="none" w="med" len="med"/>
            <a:tailEnd type="triangle" w="med" len="med"/>
          </a:ln>
        </p:spPr>
      </p:cxnSp>
      <p:cxnSp>
        <p:nvCxnSpPr>
          <p:cNvPr id="276" name="Google Shape;276;p28"/>
          <p:cNvCxnSpPr/>
          <p:nvPr/>
        </p:nvCxnSpPr>
        <p:spPr>
          <a:xfrm rot="10800000">
            <a:off x="1757588" y="8449022"/>
            <a:ext cx="471600" cy="0"/>
          </a:xfrm>
          <a:prstGeom prst="straightConnector1">
            <a:avLst/>
          </a:prstGeom>
          <a:noFill/>
          <a:ln w="38100" cap="flat" cmpd="sng">
            <a:solidFill>
              <a:schemeClr val="dk2"/>
            </a:solidFill>
            <a:prstDash val="solid"/>
            <a:round/>
            <a:headEnd type="none" w="med" len="med"/>
            <a:tailEnd type="triangle" w="med" len="med"/>
          </a:ln>
        </p:spPr>
      </p:cxnSp>
      <p:sp>
        <p:nvSpPr>
          <p:cNvPr id="277" name="Google Shape;277;p28"/>
          <p:cNvSpPr/>
          <p:nvPr/>
        </p:nvSpPr>
        <p:spPr>
          <a:xfrm>
            <a:off x="347275" y="5799325"/>
            <a:ext cx="1384200" cy="46794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78" name="Google Shape;278;p28"/>
          <p:cNvCxnSpPr/>
          <p:nvPr/>
        </p:nvCxnSpPr>
        <p:spPr>
          <a:xfrm>
            <a:off x="4454923" y="1185625"/>
            <a:ext cx="610200" cy="0"/>
          </a:xfrm>
          <a:prstGeom prst="straightConnector1">
            <a:avLst/>
          </a:prstGeom>
          <a:noFill/>
          <a:ln w="38100" cap="flat" cmpd="sng">
            <a:solidFill>
              <a:schemeClr val="dk2"/>
            </a:solidFill>
            <a:prstDash val="solid"/>
            <a:round/>
            <a:headEnd type="none" w="med" len="med"/>
            <a:tailEnd type="triangle" w="med" len="med"/>
          </a:ln>
        </p:spPr>
      </p:cxnSp>
      <p:sp>
        <p:nvSpPr>
          <p:cNvPr id="279" name="Google Shape;279;p28"/>
          <p:cNvSpPr txBox="1">
            <a:spLocks noGrp="1"/>
          </p:cNvSpPr>
          <p:nvPr>
            <p:ph type="sldNum" idx="12"/>
          </p:nvPr>
        </p:nvSpPr>
        <p:spPr>
          <a:xfrm>
            <a:off x="7004788" y="9693616"/>
            <a:ext cx="453600" cy="8181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nl"/>
              <a:t>16</a:t>
            </a:fld>
            <a:endParaRPr/>
          </a:p>
        </p:txBody>
      </p:sp>
      <p:sp>
        <p:nvSpPr>
          <p:cNvPr id="280" name="Google Shape;280;p28"/>
          <p:cNvSpPr/>
          <p:nvPr/>
        </p:nvSpPr>
        <p:spPr>
          <a:xfrm>
            <a:off x="5803452" y="256135"/>
            <a:ext cx="427500" cy="427500"/>
          </a:xfrm>
          <a:prstGeom prst="ellipse">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00FF00"/>
              </a:solidFill>
              <a:highlight>
                <a:srgbClr val="00FF00"/>
              </a:highligh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1645</Words>
  <Application>Microsoft Office PowerPoint</Application>
  <PresentationFormat>Aangepast</PresentationFormat>
  <Paragraphs>155</Paragraphs>
  <Slides>16</Slides>
  <Notes>16</Notes>
  <HiddenSlides>0</HiddenSlides>
  <MMClips>0</MMClips>
  <ScaleCrop>false</ScaleCrop>
  <HeadingPairs>
    <vt:vector size="6" baseType="variant">
      <vt:variant>
        <vt:lpstr>Gebruikte lettertypen</vt:lpstr>
      </vt:variant>
      <vt:variant>
        <vt:i4>1</vt:i4>
      </vt:variant>
      <vt:variant>
        <vt:lpstr>Thema</vt:lpstr>
      </vt:variant>
      <vt:variant>
        <vt:i4>1</vt:i4>
      </vt:variant>
      <vt:variant>
        <vt:lpstr>Diatitels</vt:lpstr>
      </vt:variant>
      <vt:variant>
        <vt:i4>16</vt:i4>
      </vt:variant>
    </vt:vector>
  </HeadingPairs>
  <TitlesOfParts>
    <vt:vector size="18" baseType="lpstr">
      <vt:lpstr>Arial</vt:lpstr>
      <vt:lpstr>Simple Light</vt:lpstr>
      <vt:lpstr>PowerPoint-presentatie</vt:lpstr>
      <vt:lpstr>Zo gebruik je scratch</vt:lpstr>
      <vt:lpstr>De speler</vt:lpstr>
      <vt:lpstr>Schieten</vt:lpstr>
      <vt:lpstr>Basis Vijand</vt:lpstr>
      <vt:lpstr>Wat heb je nu?</vt:lpstr>
      <vt:lpstr>Zelf kiezen</vt:lpstr>
      <vt:lpstr>Volger</vt:lpstr>
      <vt:lpstr>Onsterfelijke</vt:lpstr>
      <vt:lpstr>Sprinter</vt:lpstr>
      <vt:lpstr>De groep</vt:lpstr>
      <vt:lpstr>De Opsplitser</vt:lpstr>
      <vt:lpstr>Kloons van de Opsplitser</vt:lpstr>
      <vt:lpstr>Score</vt:lpstr>
      <vt:lpstr>Oplopende Moeilijkheid</vt:lpstr>
      <vt:lpstr>Grote/kleine kogel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Saskia Vermeer - Ooms</cp:lastModifiedBy>
  <cp:revision>1</cp:revision>
  <dcterms:modified xsi:type="dcterms:W3CDTF">2026-03-17T19:39:18Z</dcterms:modified>
</cp:coreProperties>
</file>